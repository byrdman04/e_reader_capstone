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IBM Plex Sans Medium"/>
      <p:regular r:id="rId25"/>
      <p:bold r:id="rId26"/>
      <p:italic r:id="rId27"/>
      <p:boldItalic r:id="rId28"/>
    </p:embeddedFont>
    <p:embeddedFont>
      <p:font typeface="Sora Light"/>
      <p:regular r:id="rId29"/>
      <p:bold r:id="rId30"/>
    </p:embeddedFont>
    <p:embeddedFont>
      <p:font typeface="Sora ExtraLigh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  <p:embeddedFont>
      <p:font typeface="IBM Plex Sa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ExtraLight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Sora-regular.fntdata"/><Relationship Id="rId32" Type="http://schemas.openxmlformats.org/officeDocument/2006/relationships/font" Target="fonts/SoraExtraLight-bold.fntdata"/><Relationship Id="rId35" Type="http://schemas.openxmlformats.org/officeDocument/2006/relationships/font" Target="fonts/SoraMedium-regular.fntdata"/><Relationship Id="rId34" Type="http://schemas.openxmlformats.org/officeDocument/2006/relationships/font" Target="fonts/Sora-bold.fntdata"/><Relationship Id="rId37" Type="http://schemas.openxmlformats.org/officeDocument/2006/relationships/font" Target="fonts/IBMPlexSansSemiBold-regular.fntdata"/><Relationship Id="rId36" Type="http://schemas.openxmlformats.org/officeDocument/2006/relationships/font" Target="fonts/SoraMedium-bold.fntdata"/><Relationship Id="rId39" Type="http://schemas.openxmlformats.org/officeDocument/2006/relationships/font" Target="fonts/IBMPlexSansSemiBold-italic.fntdata"/><Relationship Id="rId38" Type="http://schemas.openxmlformats.org/officeDocument/2006/relationships/font" Target="fonts/IBMPlexSansSemiBold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IBMPlexSansMedium-bold.fntdata"/><Relationship Id="rId25" Type="http://schemas.openxmlformats.org/officeDocument/2006/relationships/font" Target="fonts/IBMPlexSansMedium-regular.fntdata"/><Relationship Id="rId28" Type="http://schemas.openxmlformats.org/officeDocument/2006/relationships/font" Target="fonts/IBMPlexSansMedium-boldItalic.fntdata"/><Relationship Id="rId27" Type="http://schemas.openxmlformats.org/officeDocument/2006/relationships/font" Target="fonts/IBMPlexSansMedium-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bc09f1d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bc09f1d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bc09f1d1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bc09f1d1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dbc09f1d17_0_2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dbc09f1d17_0_2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dbc09f1d17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dbc09f1d17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bc09f1d17_0_3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dbc09f1d17_0_3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dbc09f1d17_0_3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dbc09f1d17_0_3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dc1ebfc59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dc1ebfc59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dc1ebfc5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dc1ebfc5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dbc09f1d17_0_3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dbc09f1d17_0_3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dc0d8f709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dc0d8f709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dbc09f1d17_0_3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dbc09f1d17_0_3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dbc09f1d17_0_3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dbc09f1d17_0_3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dbc09f1d17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dbc09f1d17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ebtospeech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74600" y="2854875"/>
            <a:ext cx="5876700" cy="147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WebToSpeech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Final Presentation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Names: John Hurley, Chandler Boone, Danny Lee, Brady Byrd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890" name="Google Shape;8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775" y="1727800"/>
            <a:ext cx="3519549" cy="351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5" type="subTitle"/>
          </p:nvPr>
        </p:nvSpPr>
        <p:spPr>
          <a:xfrm>
            <a:off x="4482800" y="3195787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7" name="Google Shape;897;p52"/>
          <p:cNvSpPr txBox="1"/>
          <p:nvPr>
            <p:ph idx="6" type="subTitle"/>
          </p:nvPr>
        </p:nvSpPr>
        <p:spPr>
          <a:xfrm>
            <a:off x="4482800" y="2894863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Timeline</a:t>
            </a:r>
            <a:endParaRPr sz="1400"/>
          </a:p>
        </p:txBody>
      </p:sp>
      <p:sp>
        <p:nvSpPr>
          <p:cNvPr id="898" name="Google Shape;898;p52"/>
          <p:cNvSpPr txBox="1"/>
          <p:nvPr>
            <p:ph idx="7" type="subTitle"/>
          </p:nvPr>
        </p:nvSpPr>
        <p:spPr>
          <a:xfrm>
            <a:off x="4482800" y="2662000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8" type="subTitle"/>
          </p:nvPr>
        </p:nvSpPr>
        <p:spPr>
          <a:xfrm>
            <a:off x="4482800" y="2361863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Page Structure</a:t>
            </a:r>
            <a:endParaRPr sz="1400"/>
          </a:p>
        </p:txBody>
      </p:sp>
      <p:sp>
        <p:nvSpPr>
          <p:cNvPr id="900" name="Google Shape;900;p52"/>
          <p:cNvSpPr txBox="1"/>
          <p:nvPr>
            <p:ph idx="9" type="subTitle"/>
          </p:nvPr>
        </p:nvSpPr>
        <p:spPr>
          <a:xfrm>
            <a:off x="4482800" y="2129000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1" name="Google Shape;901;p52"/>
          <p:cNvSpPr txBox="1"/>
          <p:nvPr>
            <p:ph idx="13" type="subTitle"/>
          </p:nvPr>
        </p:nvSpPr>
        <p:spPr>
          <a:xfrm>
            <a:off x="4482800" y="1829238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Tools/Tech</a:t>
            </a:r>
            <a:endParaRPr sz="1400"/>
          </a:p>
        </p:txBody>
      </p:sp>
      <p:sp>
        <p:nvSpPr>
          <p:cNvPr id="902" name="Google Shape;902;p52"/>
          <p:cNvSpPr txBox="1"/>
          <p:nvPr>
            <p:ph idx="14" type="subTitle"/>
          </p:nvPr>
        </p:nvSpPr>
        <p:spPr>
          <a:xfrm>
            <a:off x="4482800" y="1596375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3" name="Google Shape;903;p52"/>
          <p:cNvSpPr txBox="1"/>
          <p:nvPr>
            <p:ph idx="15" type="subTitle"/>
          </p:nvPr>
        </p:nvSpPr>
        <p:spPr>
          <a:xfrm>
            <a:off x="4482800" y="1296613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Introduction</a:t>
            </a:r>
            <a:endParaRPr sz="1400"/>
          </a:p>
        </p:txBody>
      </p:sp>
      <p:sp>
        <p:nvSpPr>
          <p:cNvPr id="904" name="Google Shape;904;p52"/>
          <p:cNvSpPr txBox="1"/>
          <p:nvPr>
            <p:ph idx="16" type="subTitle"/>
          </p:nvPr>
        </p:nvSpPr>
        <p:spPr>
          <a:xfrm>
            <a:off x="4482800" y="1063750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" type="subTitle"/>
          </p:nvPr>
        </p:nvSpPr>
        <p:spPr>
          <a:xfrm>
            <a:off x="4482800" y="3963975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Database</a:t>
            </a:r>
            <a:endParaRPr sz="1400"/>
          </a:p>
        </p:txBody>
      </p:sp>
      <p:sp>
        <p:nvSpPr>
          <p:cNvPr id="906" name="Google Shape;906;p52"/>
          <p:cNvSpPr txBox="1"/>
          <p:nvPr>
            <p:ph idx="2" type="subTitle"/>
          </p:nvPr>
        </p:nvSpPr>
        <p:spPr>
          <a:xfrm>
            <a:off x="4482800" y="3731112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7" name="Google Shape;907;p52"/>
          <p:cNvSpPr txBox="1"/>
          <p:nvPr>
            <p:ph idx="4" type="subTitle"/>
          </p:nvPr>
        </p:nvSpPr>
        <p:spPr>
          <a:xfrm>
            <a:off x="4482800" y="3428650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Project Scope</a:t>
            </a:r>
            <a:endParaRPr sz="1400"/>
          </a:p>
        </p:txBody>
      </p:sp>
      <p:sp>
        <p:nvSpPr>
          <p:cNvPr id="908" name="Google Shape;908;p52"/>
          <p:cNvSpPr txBox="1"/>
          <p:nvPr>
            <p:ph idx="5" type="subTitle"/>
          </p:nvPr>
        </p:nvSpPr>
        <p:spPr>
          <a:xfrm>
            <a:off x="6467650" y="3195787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909" name="Google Shape;909;p52"/>
          <p:cNvSpPr txBox="1"/>
          <p:nvPr>
            <p:ph idx="6" type="subTitle"/>
          </p:nvPr>
        </p:nvSpPr>
        <p:spPr>
          <a:xfrm>
            <a:off x="6467650" y="2894863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Live Demo</a:t>
            </a:r>
            <a:endParaRPr sz="1400"/>
          </a:p>
        </p:txBody>
      </p:sp>
      <p:sp>
        <p:nvSpPr>
          <p:cNvPr id="910" name="Google Shape;910;p52"/>
          <p:cNvSpPr txBox="1"/>
          <p:nvPr>
            <p:ph idx="7" type="subTitle"/>
          </p:nvPr>
        </p:nvSpPr>
        <p:spPr>
          <a:xfrm>
            <a:off x="6467650" y="2662000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10</a:t>
            </a:r>
            <a:r>
              <a:rPr b="0" lang="en"/>
              <a:t>.</a:t>
            </a:r>
            <a:endParaRPr b="0"/>
          </a:p>
        </p:txBody>
      </p:sp>
      <p:sp>
        <p:nvSpPr>
          <p:cNvPr id="911" name="Google Shape;911;p52"/>
          <p:cNvSpPr txBox="1"/>
          <p:nvPr>
            <p:ph idx="8" type="subTitle"/>
          </p:nvPr>
        </p:nvSpPr>
        <p:spPr>
          <a:xfrm>
            <a:off x="6467650" y="2361863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Remaining Issues</a:t>
            </a:r>
            <a:endParaRPr sz="1400"/>
          </a:p>
        </p:txBody>
      </p:sp>
      <p:sp>
        <p:nvSpPr>
          <p:cNvPr id="912" name="Google Shape;912;p52"/>
          <p:cNvSpPr txBox="1"/>
          <p:nvPr>
            <p:ph idx="9" type="subTitle"/>
          </p:nvPr>
        </p:nvSpPr>
        <p:spPr>
          <a:xfrm>
            <a:off x="6467650" y="2129000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9</a:t>
            </a:r>
            <a:r>
              <a:rPr b="0" lang="en"/>
              <a:t>.</a:t>
            </a:r>
            <a:endParaRPr b="0"/>
          </a:p>
        </p:txBody>
      </p:sp>
      <p:sp>
        <p:nvSpPr>
          <p:cNvPr id="913" name="Google Shape;913;p52"/>
          <p:cNvSpPr txBox="1"/>
          <p:nvPr>
            <p:ph idx="13" type="subTitle"/>
          </p:nvPr>
        </p:nvSpPr>
        <p:spPr>
          <a:xfrm>
            <a:off x="6467650" y="1829238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Project Deployment</a:t>
            </a:r>
            <a:endParaRPr sz="1400"/>
          </a:p>
        </p:txBody>
      </p:sp>
      <p:sp>
        <p:nvSpPr>
          <p:cNvPr id="914" name="Google Shape;914;p52"/>
          <p:cNvSpPr txBox="1"/>
          <p:nvPr>
            <p:ph idx="14" type="subTitle"/>
          </p:nvPr>
        </p:nvSpPr>
        <p:spPr>
          <a:xfrm>
            <a:off x="6467650" y="1596375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8</a:t>
            </a:r>
            <a:r>
              <a:rPr b="0" lang="en"/>
              <a:t>.</a:t>
            </a:r>
            <a:endParaRPr b="0"/>
          </a:p>
        </p:txBody>
      </p:sp>
      <p:sp>
        <p:nvSpPr>
          <p:cNvPr id="915" name="Google Shape;915;p52"/>
          <p:cNvSpPr txBox="1"/>
          <p:nvPr>
            <p:ph idx="15" type="subTitle"/>
          </p:nvPr>
        </p:nvSpPr>
        <p:spPr>
          <a:xfrm>
            <a:off x="6467650" y="1296613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Design Philosophies</a:t>
            </a:r>
            <a:endParaRPr sz="1400"/>
          </a:p>
        </p:txBody>
      </p:sp>
      <p:sp>
        <p:nvSpPr>
          <p:cNvPr id="916" name="Google Shape;916;p52"/>
          <p:cNvSpPr txBox="1"/>
          <p:nvPr>
            <p:ph idx="16" type="subTitle"/>
          </p:nvPr>
        </p:nvSpPr>
        <p:spPr>
          <a:xfrm>
            <a:off x="6467650" y="1063750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7</a:t>
            </a:r>
            <a:r>
              <a:rPr b="0" lang="en"/>
              <a:t>.</a:t>
            </a:r>
            <a:endParaRPr b="0"/>
          </a:p>
        </p:txBody>
      </p:sp>
      <p:sp>
        <p:nvSpPr>
          <p:cNvPr id="917" name="Google Shape;917;p52"/>
          <p:cNvSpPr txBox="1"/>
          <p:nvPr>
            <p:ph idx="1" type="subTitle"/>
          </p:nvPr>
        </p:nvSpPr>
        <p:spPr>
          <a:xfrm>
            <a:off x="6467650" y="3963975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18" name="Google Shape;918;p52"/>
          <p:cNvSpPr txBox="1"/>
          <p:nvPr>
            <p:ph idx="2" type="subTitle"/>
          </p:nvPr>
        </p:nvSpPr>
        <p:spPr>
          <a:xfrm>
            <a:off x="6467650" y="3731112"/>
            <a:ext cx="75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919" name="Google Shape;919;p52"/>
          <p:cNvSpPr txBox="1"/>
          <p:nvPr>
            <p:ph idx="4" type="subTitle"/>
          </p:nvPr>
        </p:nvSpPr>
        <p:spPr>
          <a:xfrm>
            <a:off x="6467650" y="3428650"/>
            <a:ext cx="20214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3"/>
          <p:cNvSpPr txBox="1"/>
          <p:nvPr>
            <p:ph type="title"/>
          </p:nvPr>
        </p:nvSpPr>
        <p:spPr>
          <a:xfrm>
            <a:off x="115025" y="795400"/>
            <a:ext cx="57711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WebToSpeech Introduction</a:t>
            </a:r>
            <a:endParaRPr/>
          </a:p>
        </p:txBody>
      </p:sp>
      <p:sp>
        <p:nvSpPr>
          <p:cNvPr id="925" name="Google Shape;925;p53"/>
          <p:cNvSpPr txBox="1"/>
          <p:nvPr>
            <p:ph idx="1" type="subTitle"/>
          </p:nvPr>
        </p:nvSpPr>
        <p:spPr>
          <a:xfrm>
            <a:off x="115025" y="1647150"/>
            <a:ext cx="5547600" cy="31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WebToSpeech is a web-based document reader that lets users upload their documents and have them read aloud via text-to-speech.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Users will also be able to create collections to organize their documents as they deem fit.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WebToSpeech provides users with a more accessible reading experience for those with reading disabilities, and is also a general platform for any user to have their documents read aloud for entertainment, education, or other purposes.</a:t>
            </a:r>
            <a:endParaRPr sz="1400"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4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Front End Languages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Web Framework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Libraries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Server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Database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1" name="Google Shape;931;p54"/>
          <p:cNvSpPr txBox="1"/>
          <p:nvPr>
            <p:ph idx="14" type="title"/>
          </p:nvPr>
        </p:nvSpPr>
        <p:spPr>
          <a:xfrm>
            <a:off x="5600527" y="1711575"/>
            <a:ext cx="35154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Javascript, HTML, and CSS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React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WebSpeech API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Vercel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Supabase(Postgres SQL)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54"/>
          <p:cNvSpPr txBox="1"/>
          <p:nvPr>
            <p:ph type="title"/>
          </p:nvPr>
        </p:nvSpPr>
        <p:spPr>
          <a:xfrm>
            <a:off x="3822450" y="1287875"/>
            <a:ext cx="1583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Category</a:t>
            </a:r>
            <a:endParaRPr sz="1400"/>
          </a:p>
        </p:txBody>
      </p:sp>
      <p:sp>
        <p:nvSpPr>
          <p:cNvPr id="933" name="Google Shape;933;p54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Tools/Tech</a:t>
            </a:r>
            <a:endParaRPr/>
          </a:p>
        </p:txBody>
      </p:sp>
      <p:sp>
        <p:nvSpPr>
          <p:cNvPr id="934" name="Google Shape;934;p54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5" name="Google Shape;935;p54"/>
          <p:cNvSpPr txBox="1"/>
          <p:nvPr>
            <p:ph type="title"/>
          </p:nvPr>
        </p:nvSpPr>
        <p:spPr>
          <a:xfrm>
            <a:off x="5702952" y="1286656"/>
            <a:ext cx="1583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Tools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"/>
          <p:cNvSpPr txBox="1"/>
          <p:nvPr>
            <p:ph idx="6" type="title"/>
          </p:nvPr>
        </p:nvSpPr>
        <p:spPr>
          <a:xfrm>
            <a:off x="228600" y="1832375"/>
            <a:ext cx="40104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Figma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Quickly turning design </a:t>
            </a:r>
            <a:r>
              <a:rPr lang="en" sz="1300"/>
              <a:t>mockups</a:t>
            </a:r>
            <a:r>
              <a:rPr lang="en" sz="1300"/>
              <a:t> into HTML and CSS</a:t>
            </a:r>
            <a:endParaRPr sz="1300"/>
          </a:p>
        </p:txBody>
      </p:sp>
      <p:sp>
        <p:nvSpPr>
          <p:cNvPr id="941" name="Google Shape;941;p55"/>
          <p:cNvSpPr txBox="1"/>
          <p:nvPr>
            <p:ph idx="7" type="title"/>
          </p:nvPr>
        </p:nvSpPr>
        <p:spPr>
          <a:xfrm>
            <a:off x="228600" y="2672425"/>
            <a:ext cx="40104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Google OAuth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Google sign-in integration with Supabase</a:t>
            </a:r>
            <a:endParaRPr sz="1300"/>
          </a:p>
        </p:txBody>
      </p:sp>
      <p:sp>
        <p:nvSpPr>
          <p:cNvPr id="942" name="Google Shape;942;p55"/>
          <p:cNvSpPr txBox="1"/>
          <p:nvPr>
            <p:ph idx="8" type="title"/>
          </p:nvPr>
        </p:nvSpPr>
        <p:spPr>
          <a:xfrm>
            <a:off x="228600" y="3512475"/>
            <a:ext cx="40104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React Router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Handling navigation between pages within React</a:t>
            </a:r>
            <a:endParaRPr sz="1300"/>
          </a:p>
        </p:txBody>
      </p:sp>
      <p:sp>
        <p:nvSpPr>
          <p:cNvPr id="943" name="Google Shape;943;p55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Notable Tech</a:t>
            </a:r>
            <a:endParaRPr/>
          </a:p>
        </p:txBody>
      </p:sp>
      <p:sp>
        <p:nvSpPr>
          <p:cNvPr id="944" name="Google Shape;944;p55"/>
          <p:cNvSpPr txBox="1"/>
          <p:nvPr>
            <p:ph idx="6" type="title"/>
          </p:nvPr>
        </p:nvSpPr>
        <p:spPr>
          <a:xfrm>
            <a:off x="4572000" y="1832375"/>
            <a:ext cx="40104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Lucide React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Importing SVG elements for easy UI creation options</a:t>
            </a:r>
            <a:endParaRPr sz="1300"/>
          </a:p>
        </p:txBody>
      </p:sp>
      <p:sp>
        <p:nvSpPr>
          <p:cNvPr id="945" name="Google Shape;945;p55"/>
          <p:cNvSpPr txBox="1"/>
          <p:nvPr>
            <p:ph idx="7" type="title"/>
          </p:nvPr>
        </p:nvSpPr>
        <p:spPr>
          <a:xfrm>
            <a:off x="4572000" y="2672425"/>
            <a:ext cx="40104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946" name="Google Shape;946;p55"/>
          <p:cNvSpPr txBox="1"/>
          <p:nvPr>
            <p:ph idx="8" type="title"/>
          </p:nvPr>
        </p:nvSpPr>
        <p:spPr>
          <a:xfrm>
            <a:off x="4572000" y="3512475"/>
            <a:ext cx="40104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Structure Recap</a:t>
            </a:r>
            <a:endParaRPr/>
          </a:p>
        </p:txBody>
      </p:sp>
      <p:sp>
        <p:nvSpPr>
          <p:cNvPr id="952" name="Google Shape;952;p5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Central page </a:t>
            </a:r>
            <a:r>
              <a:rPr lang="en"/>
              <a:t>upon signing 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Organize, access, and upload documents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 profile page</a:t>
            </a:r>
            <a:endParaRPr/>
          </a:p>
        </p:txBody>
      </p:sp>
      <p:sp>
        <p:nvSpPr>
          <p:cNvPr id="953" name="Google Shape;953;p5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View contents of documents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text-to-speech to read text content</a:t>
            </a:r>
            <a:endParaRPr/>
          </a:p>
        </p:txBody>
      </p:sp>
      <p:sp>
        <p:nvSpPr>
          <p:cNvPr id="954" name="Google Shape;954;p5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View user information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Edit collection titles, or delete collections.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Sign out</a:t>
            </a:r>
            <a:endParaRPr/>
          </a:p>
        </p:txBody>
      </p:sp>
      <p:sp>
        <p:nvSpPr>
          <p:cNvPr id="955" name="Google Shape;955;p5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Login Page</a:t>
            </a:r>
            <a:endParaRPr b="1"/>
          </a:p>
        </p:txBody>
      </p:sp>
      <p:sp>
        <p:nvSpPr>
          <p:cNvPr id="956" name="Google Shape;956;p5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Dashboard Page</a:t>
            </a:r>
            <a:endParaRPr b="1"/>
          </a:p>
        </p:txBody>
      </p:sp>
      <p:sp>
        <p:nvSpPr>
          <p:cNvPr id="957" name="Google Shape;957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Profile Page</a:t>
            </a:r>
            <a:endParaRPr b="1"/>
          </a:p>
        </p:txBody>
      </p:sp>
      <p:sp>
        <p:nvSpPr>
          <p:cNvPr id="958" name="Google Shape;958;p5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Document Page</a:t>
            </a:r>
            <a:endParaRPr b="1"/>
          </a:p>
        </p:txBody>
      </p:sp>
      <p:sp>
        <p:nvSpPr>
          <p:cNvPr id="959" name="Google Shape;959;p56"/>
          <p:cNvSpPr txBox="1"/>
          <p:nvPr>
            <p:ph idx="2" type="body"/>
          </p:nvPr>
        </p:nvSpPr>
        <p:spPr>
          <a:xfrm>
            <a:off x="36677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first page shown to the user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Login button using Google OAuth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7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965" name="Google Shape;965;p57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Planning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Proposal and requirements discussions</a:t>
            </a:r>
            <a:endParaRPr/>
          </a:p>
        </p:txBody>
      </p:sp>
      <p:sp>
        <p:nvSpPr>
          <p:cNvPr id="966" name="Google Shape;966;p57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Prototyping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pages, layout design,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ideas</a:t>
            </a:r>
            <a:endParaRPr/>
          </a:p>
        </p:txBody>
      </p:sp>
      <p:sp>
        <p:nvSpPr>
          <p:cNvPr id="967" name="Google Shape;967;p57"/>
          <p:cNvSpPr txBox="1"/>
          <p:nvPr>
            <p:ph idx="4" type="subTitle"/>
          </p:nvPr>
        </p:nvSpPr>
        <p:spPr>
          <a:xfrm>
            <a:off x="3155400" y="2306650"/>
            <a:ext cx="1387800" cy="13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Tech Integration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OAuth Sign-in,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text-to-speech</a:t>
            </a:r>
            <a:endParaRPr/>
          </a:p>
        </p:txBody>
      </p:sp>
      <p:sp>
        <p:nvSpPr>
          <p:cNvPr id="968" name="Google Shape;968;p57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Finalizing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 testing,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features,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cuts…</a:t>
            </a:r>
            <a:endParaRPr/>
          </a:p>
        </p:txBody>
      </p:sp>
      <p:sp>
        <p:nvSpPr>
          <p:cNvPr id="969" name="Google Shape;969;p57"/>
          <p:cNvSpPr txBox="1"/>
          <p:nvPr>
            <p:ph idx="6" type="subTitle"/>
          </p:nvPr>
        </p:nvSpPr>
        <p:spPr>
          <a:xfrm>
            <a:off x="6031950" y="1649100"/>
            <a:ext cx="19272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Going Forward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scrapped features and broadening scope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8"/>
          <p:cNvSpPr txBox="1"/>
          <p:nvPr>
            <p:ph idx="3" type="title"/>
          </p:nvPr>
        </p:nvSpPr>
        <p:spPr>
          <a:xfrm>
            <a:off x="305100" y="1551000"/>
            <a:ext cx="3600600" cy="10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Text-To-Speech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Text-to-speech reading </a:t>
            </a:r>
            <a:r>
              <a:rPr lang="en" sz="1400">
                <a:solidFill>
                  <a:srgbClr val="38761D"/>
                </a:solidFill>
              </a:rPr>
              <a:t>✔</a:t>
            </a:r>
            <a:endParaRPr sz="1400">
              <a:solidFill>
                <a:srgbClr val="38761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Speed and volume controls </a:t>
            </a:r>
            <a:r>
              <a:rPr lang="en" sz="1400">
                <a:solidFill>
                  <a:srgbClr val="38761D"/>
                </a:solidFill>
              </a:rPr>
              <a:t>✔</a:t>
            </a:r>
            <a:endParaRPr sz="1400">
              <a:solidFill>
                <a:srgbClr val="38761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Multiple voice options </a:t>
            </a:r>
            <a:r>
              <a:rPr lang="en" sz="1400">
                <a:solidFill>
                  <a:srgbClr val="FF0000"/>
                </a:solidFill>
              </a:rPr>
              <a:t>✘</a:t>
            </a:r>
            <a:endParaRPr sz="1400">
              <a:solidFill>
                <a:srgbClr val="FF0000"/>
              </a:solidFill>
            </a:endParaRPr>
          </a:p>
        </p:txBody>
      </p:sp>
      <p:sp>
        <p:nvSpPr>
          <p:cNvPr id="975" name="Google Shape;975;p58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Scope</a:t>
            </a:r>
            <a:endParaRPr/>
          </a:p>
        </p:txBody>
      </p:sp>
      <p:sp>
        <p:nvSpPr>
          <p:cNvPr id="976" name="Google Shape;976;p58"/>
          <p:cNvSpPr txBox="1"/>
          <p:nvPr>
            <p:ph idx="3" type="title"/>
          </p:nvPr>
        </p:nvSpPr>
        <p:spPr>
          <a:xfrm>
            <a:off x="305100" y="2737525"/>
            <a:ext cx="3600600" cy="10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Document Handling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File uploading </a:t>
            </a:r>
            <a:r>
              <a:rPr lang="en" sz="1400">
                <a:solidFill>
                  <a:srgbClr val="38761D"/>
                </a:solidFill>
              </a:rPr>
              <a:t>✔</a:t>
            </a:r>
            <a:endParaRPr sz="1400">
              <a:solidFill>
                <a:srgbClr val="38761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Collections </a:t>
            </a:r>
            <a:r>
              <a:rPr lang="en" sz="1400">
                <a:solidFill>
                  <a:srgbClr val="38761D"/>
                </a:solidFill>
              </a:rPr>
              <a:t>✔</a:t>
            </a:r>
            <a:endParaRPr sz="1400">
              <a:solidFill>
                <a:srgbClr val="38761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More file support (.pdf, .epub) </a:t>
            </a:r>
            <a:r>
              <a:rPr lang="en" sz="1400">
                <a:solidFill>
                  <a:srgbClr val="FF0000"/>
                </a:solidFill>
              </a:rPr>
              <a:t>✘</a:t>
            </a:r>
            <a:endParaRPr sz="1400">
              <a:solidFill>
                <a:srgbClr val="FF0000"/>
              </a:solidFill>
            </a:endParaRPr>
          </a:p>
        </p:txBody>
      </p:sp>
      <p:sp>
        <p:nvSpPr>
          <p:cNvPr id="977" name="Google Shape;977;p58"/>
          <p:cNvSpPr txBox="1"/>
          <p:nvPr>
            <p:ph idx="3" type="title"/>
          </p:nvPr>
        </p:nvSpPr>
        <p:spPr>
          <a:xfrm>
            <a:off x="4342730" y="1551000"/>
            <a:ext cx="3600600" cy="10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Document Tools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Pagination</a:t>
            </a:r>
            <a:r>
              <a:rPr lang="en" sz="1400">
                <a:solidFill>
                  <a:srgbClr val="38761D"/>
                </a:solidFill>
              </a:rPr>
              <a:t> ✔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Bookmarks </a:t>
            </a:r>
            <a:r>
              <a:rPr lang="en" sz="1400">
                <a:solidFill>
                  <a:srgbClr val="FF0000"/>
                </a:solidFill>
              </a:rPr>
              <a:t>✘</a:t>
            </a:r>
            <a:endParaRPr sz="1400">
              <a:solidFill>
                <a:srgbClr val="38761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Text annotation</a:t>
            </a:r>
            <a:r>
              <a:rPr lang="en" sz="1400"/>
              <a:t> </a:t>
            </a:r>
            <a:r>
              <a:rPr lang="en" sz="1400">
                <a:solidFill>
                  <a:srgbClr val="FF0000"/>
                </a:solidFill>
              </a:rPr>
              <a:t>✘</a:t>
            </a:r>
            <a:endParaRPr sz="1400">
              <a:solidFill>
                <a:srgbClr val="FF0000"/>
              </a:solidFill>
            </a:endParaRPr>
          </a:p>
        </p:txBody>
      </p:sp>
      <p:sp>
        <p:nvSpPr>
          <p:cNvPr id="978" name="Google Shape;978;p58"/>
          <p:cNvSpPr txBox="1"/>
          <p:nvPr>
            <p:ph idx="3" type="title"/>
          </p:nvPr>
        </p:nvSpPr>
        <p:spPr>
          <a:xfrm>
            <a:off x="4342730" y="2737525"/>
            <a:ext cx="3600600" cy="10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Other Missing Features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Document Filtering</a:t>
            </a:r>
            <a:r>
              <a:rPr lang="en" sz="1400">
                <a:solidFill>
                  <a:srgbClr val="38761D"/>
                </a:solidFill>
              </a:rPr>
              <a:t> </a:t>
            </a:r>
            <a:r>
              <a:rPr lang="en" sz="1400">
                <a:solidFill>
                  <a:srgbClr val="FF0000"/>
                </a:solidFill>
              </a:rPr>
              <a:t>✘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Public Collections </a:t>
            </a:r>
            <a:r>
              <a:rPr lang="en" sz="1400">
                <a:solidFill>
                  <a:srgbClr val="FF0000"/>
                </a:solidFill>
              </a:rPr>
              <a:t>✘</a:t>
            </a:r>
            <a:endParaRPr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9"/>
          <p:cNvSpPr txBox="1"/>
          <p:nvPr>
            <p:ph idx="5" type="title"/>
          </p:nvPr>
        </p:nvSpPr>
        <p:spPr>
          <a:xfrm>
            <a:off x="5163450" y="1186175"/>
            <a:ext cx="1834500" cy="201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File storage</a:t>
            </a:r>
            <a:endParaRPr sz="1800"/>
          </a:p>
        </p:txBody>
      </p:sp>
      <p:sp>
        <p:nvSpPr>
          <p:cNvPr id="984" name="Google Shape;984;p59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985" name="Google Shape;985;p59"/>
          <p:cNvSpPr txBox="1"/>
          <p:nvPr>
            <p:ph idx="9" type="body"/>
          </p:nvPr>
        </p:nvSpPr>
        <p:spPr>
          <a:xfrm>
            <a:off x="5163450" y="1549175"/>
            <a:ext cx="2119200" cy="1395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Files are stored in buckets.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Access is limited by MIME types and RSL Policies. </a:t>
            </a:r>
            <a:endParaRPr sz="1600"/>
          </a:p>
        </p:txBody>
      </p:sp>
      <p:sp>
        <p:nvSpPr>
          <p:cNvPr id="986" name="Google Shape;986;p59"/>
          <p:cNvSpPr txBox="1"/>
          <p:nvPr>
            <p:ph idx="13" type="body"/>
          </p:nvPr>
        </p:nvSpPr>
        <p:spPr>
          <a:xfrm>
            <a:off x="5163450" y="3064375"/>
            <a:ext cx="2119200" cy="1395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User-books is private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Community-books is public</a:t>
            </a:r>
            <a:endParaRPr sz="1600"/>
          </a:p>
        </p:txBody>
      </p:sp>
      <p:pic>
        <p:nvPicPr>
          <p:cNvPr id="987" name="Google Shape;987;p59"/>
          <p:cNvPicPr preferRelativeResize="0"/>
          <p:nvPr/>
        </p:nvPicPr>
        <p:blipFill rotWithShape="1">
          <a:blip r:embed="rId3">
            <a:alphaModFix/>
          </a:blip>
          <a:srcRect b="25172" l="0" r="13622" t="0"/>
          <a:stretch/>
        </p:blipFill>
        <p:spPr>
          <a:xfrm>
            <a:off x="156575" y="1186175"/>
            <a:ext cx="4699000" cy="380312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0"/>
          <p:cNvSpPr txBox="1"/>
          <p:nvPr>
            <p:ph idx="1" type="body"/>
          </p:nvPr>
        </p:nvSpPr>
        <p:spPr>
          <a:xfrm>
            <a:off x="366725" y="1759093"/>
            <a:ext cx="38385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Build for mobile first then expand to fit web.</a:t>
            </a:r>
            <a:endParaRPr sz="1600"/>
          </a:p>
        </p:txBody>
      </p:sp>
      <p:sp>
        <p:nvSpPr>
          <p:cNvPr id="993" name="Google Shape;993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Breaking large classes/pages into smaller independent components.</a:t>
            </a:r>
            <a:endParaRPr sz="1600"/>
          </a:p>
        </p:txBody>
      </p:sp>
      <p:sp>
        <p:nvSpPr>
          <p:cNvPr id="994" name="Google Shape;994;p60"/>
          <p:cNvSpPr txBox="1"/>
          <p:nvPr>
            <p:ph idx="3" type="body"/>
          </p:nvPr>
        </p:nvSpPr>
        <p:spPr>
          <a:xfrm>
            <a:off x="366775" y="3293250"/>
            <a:ext cx="38385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Every class should have only one well-defined responsibility.</a:t>
            </a:r>
            <a:endParaRPr sz="1600"/>
          </a:p>
        </p:txBody>
      </p:sp>
      <p:sp>
        <p:nvSpPr>
          <p:cNvPr id="995" name="Google Shape;995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r>
              <a:rPr lang="en"/>
              <a:t> Philosophies</a:t>
            </a:r>
            <a:endParaRPr/>
          </a:p>
        </p:txBody>
      </p:sp>
      <p:sp>
        <p:nvSpPr>
          <p:cNvPr id="997" name="Google Shape;997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Mobile I</a:t>
            </a:r>
            <a:r>
              <a:rPr b="1" lang="en"/>
              <a:t>mplementation</a:t>
            </a:r>
            <a:endParaRPr b="1"/>
          </a:p>
        </p:txBody>
      </p:sp>
      <p:sp>
        <p:nvSpPr>
          <p:cNvPr id="998" name="Google Shape;998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Modularity</a:t>
            </a:r>
            <a:endParaRPr b="1"/>
          </a:p>
        </p:txBody>
      </p:sp>
      <p:sp>
        <p:nvSpPr>
          <p:cNvPr id="999" name="Google Shape;999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0"/>
          <p:cNvSpPr txBox="1"/>
          <p:nvPr>
            <p:ph idx="8" type="subTitle"/>
          </p:nvPr>
        </p:nvSpPr>
        <p:spPr>
          <a:xfrm>
            <a:off x="366725" y="2571750"/>
            <a:ext cx="40218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Single </a:t>
            </a:r>
            <a:r>
              <a:rPr b="1" lang="en"/>
              <a:t>Responsibility</a:t>
            </a:r>
            <a:r>
              <a:rPr b="1" lang="en"/>
              <a:t> Principle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61"/>
          <p:cNvSpPr txBox="1"/>
          <p:nvPr>
            <p:ph type="title"/>
          </p:nvPr>
        </p:nvSpPr>
        <p:spPr>
          <a:xfrm>
            <a:off x="96025" y="881125"/>
            <a:ext cx="57711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Deployment</a:t>
            </a:r>
            <a:endParaRPr/>
          </a:p>
        </p:txBody>
      </p:sp>
      <p:sp>
        <p:nvSpPr>
          <p:cNvPr id="1006" name="Google Shape;1006;p61"/>
          <p:cNvSpPr txBox="1"/>
          <p:nvPr>
            <p:ph idx="1" type="subTitle"/>
          </p:nvPr>
        </p:nvSpPr>
        <p:spPr>
          <a:xfrm>
            <a:off x="115025" y="1827025"/>
            <a:ext cx="5547600" cy="26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AutoNum type="arabicPeriod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Download the “webtospeech” folder from our GitHub repository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AutoNum type="arabicPeriod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Open in command line, run npm install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AutoNum type="arabicPeriod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Create Supabase project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AutoNum type="arabicPeriod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Obtain keys, set up project environment </a:t>
            </a: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variables, load into supabaseClient.js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AutoNum type="arabicPeriod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Configure Google OAuth and connect to Supabase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AutoNum type="arabicPeriod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To host, import repository into Vercel and set Supabase variables on the Vercel project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2"/>
          <p:cNvSpPr txBox="1"/>
          <p:nvPr>
            <p:ph idx="8" type="title"/>
          </p:nvPr>
        </p:nvSpPr>
        <p:spPr>
          <a:xfrm>
            <a:off x="228600" y="32507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Google profile image url rate limits can cause it to not display</a:t>
            </a:r>
            <a:endParaRPr sz="1400"/>
          </a:p>
        </p:txBody>
      </p:sp>
      <p:sp>
        <p:nvSpPr>
          <p:cNvPr id="1012" name="Google Shape;1012;p62"/>
          <p:cNvSpPr txBox="1"/>
          <p:nvPr>
            <p:ph idx="6" type="title"/>
          </p:nvPr>
        </p:nvSpPr>
        <p:spPr>
          <a:xfrm>
            <a:off x="228600" y="16328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 document filtering functionality on the Dashboard</a:t>
            </a:r>
            <a:endParaRPr sz="1400"/>
          </a:p>
        </p:txBody>
      </p:sp>
      <p:sp>
        <p:nvSpPr>
          <p:cNvPr id="1013" name="Google Shape;1013;p62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Issues</a:t>
            </a:r>
            <a:endParaRPr/>
          </a:p>
        </p:txBody>
      </p:sp>
      <p:sp>
        <p:nvSpPr>
          <p:cNvPr id="1014" name="Google Shape;1014;p62"/>
          <p:cNvSpPr txBox="1"/>
          <p:nvPr>
            <p:ph idx="7" type="title"/>
          </p:nvPr>
        </p:nvSpPr>
        <p:spPr>
          <a:xfrm>
            <a:off x="228600" y="244180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Only support for uploading .txt files</a:t>
            </a:r>
            <a:endParaRPr sz="1400"/>
          </a:p>
        </p:txBody>
      </p:sp>
      <p:sp>
        <p:nvSpPr>
          <p:cNvPr id="1015" name="Google Shape;1015;p62"/>
          <p:cNvSpPr txBox="1"/>
          <p:nvPr>
            <p:ph idx="8" type="title"/>
          </p:nvPr>
        </p:nvSpPr>
        <p:spPr>
          <a:xfrm>
            <a:off x="3917125" y="32507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16" name="Google Shape;1016;p62"/>
          <p:cNvSpPr txBox="1"/>
          <p:nvPr>
            <p:ph idx="6" type="title"/>
          </p:nvPr>
        </p:nvSpPr>
        <p:spPr>
          <a:xfrm>
            <a:off x="3917125" y="16328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Only the default text-to-speech voice is supported</a:t>
            </a:r>
            <a:endParaRPr sz="1400"/>
          </a:p>
        </p:txBody>
      </p:sp>
      <p:sp>
        <p:nvSpPr>
          <p:cNvPr id="1017" name="Google Shape;1017;p62"/>
          <p:cNvSpPr txBox="1"/>
          <p:nvPr>
            <p:ph idx="7" type="title"/>
          </p:nvPr>
        </p:nvSpPr>
        <p:spPr>
          <a:xfrm>
            <a:off x="3917125" y="244180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Text-to-speech can’t be moved to start reading from a different spot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3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023" name="Google Shape;1023;p63"/>
          <p:cNvSpPr txBox="1"/>
          <p:nvPr>
            <p:ph type="title"/>
          </p:nvPr>
        </p:nvSpPr>
        <p:spPr>
          <a:xfrm>
            <a:off x="1605000" y="3974875"/>
            <a:ext cx="5934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https://webtospeech.vercel.app/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