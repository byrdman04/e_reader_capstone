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6"/>
  </p:notesMasterIdLst>
  <p:sldIdLst>
    <p:sldId id="257" r:id="rId5"/>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7A44F-ADA4-45EB-919B-FEF3A3ADE5EF}" v="6" dt="2026-04-07T15:12:33.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2213"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4/7/2026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C03D7F-B796-4B92-B0C7-6D4C9CC8C787}"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C03D7F-B796-4B92-B0C7-6D4C9CC8C787}"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4/7/2026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19797727"/>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ea typeface="+mn-lt"/>
                <a:cs typeface="+mn-lt"/>
              </a:rPr>
              <a:t>WebToSpeech: a web application designed to provide a simplified, organized reading experience for a wide audience. Users will be able to upload their documents to a database and have them read aloud using text-to-speech synthesis. Organizing a large collection of books and documents can be tedious and disrupt the reading process. To remedy this, WebToSpeech also provides a central hub to organize documents efficiently, sorting them into collections made by the user. Users will be able to create collections by name, add files to those collections, and filter the displayed documents to find only the ones they are searching for. Finally, users will have the option to add annotations and bookmarks to their documents. This will improve the user experience for online document viewing and provide accessibility services to those with reading disabilities.</a:t>
            </a:r>
          </a:p>
          <a:p>
            <a:pPr algn="just"/>
            <a:endParaRPr lang="en-US" sz="3200" dirty="0">
              <a:latin typeface="Calibri"/>
              <a:ea typeface="Calibri"/>
              <a:cs typeface="Calibri"/>
            </a:endParaRPr>
          </a:p>
          <a:p>
            <a:pPr algn="just"/>
            <a:endParaRPr lang="en-US" sz="7250" dirty="0">
              <a:ea typeface="Calibri"/>
              <a:cs typeface="Calibri"/>
            </a:endParaRP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lIns="91440" tIns="45720" rIns="91440" bIns="45720" rtlCol="0" anchor="t">
            <a:spAutoFit/>
          </a:bodyPr>
          <a:lstStyle/>
          <a:p>
            <a:pPr algn="ctr"/>
            <a:r>
              <a:rPr lang="en-US" sz="8800" b="1" err="1">
                <a:solidFill>
                  <a:srgbClr val="BB1C3F"/>
                </a:solidFill>
                <a:ea typeface="Calibri"/>
                <a:cs typeface="Calibri"/>
              </a:rPr>
              <a:t>WebToSpeech</a:t>
            </a:r>
          </a:p>
        </p:txBody>
      </p:sp>
      <p:sp>
        <p:nvSpPr>
          <p:cNvPr id="11" name="TextBox 10"/>
          <p:cNvSpPr txBox="1"/>
          <p:nvPr/>
        </p:nvSpPr>
        <p:spPr>
          <a:xfrm>
            <a:off x="7772400" y="2543144"/>
            <a:ext cx="22860000" cy="923330"/>
          </a:xfrm>
          <a:prstGeom prst="rect">
            <a:avLst/>
          </a:prstGeom>
          <a:noFill/>
        </p:spPr>
        <p:txBody>
          <a:bodyPr wrap="square" lIns="91440" tIns="45720" rIns="91440" bIns="45720" rtlCol="0" anchor="t">
            <a:spAutoFit/>
          </a:bodyPr>
          <a:lstStyle/>
          <a:p>
            <a:pPr algn="ctr"/>
            <a:r>
              <a:rPr lang="en-US" sz="5400">
                <a:ea typeface="Calibri"/>
                <a:cs typeface="Calibri"/>
              </a:rPr>
              <a:t>Chandler Boone, Danny Lee, John Hurley, Brady Byrd</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2" name="TextBox 51">
            <a:extLst>
              <a:ext uri="{FF2B5EF4-FFF2-40B4-BE49-F238E27FC236}">
                <a16:creationId xmlns:a16="http://schemas.microsoft.com/office/drawing/2014/main" id="{122B8F71-E134-414F-9A2A-89B6A9482606}"/>
              </a:ext>
            </a:extLst>
          </p:cNvPr>
          <p:cNvSpPr txBox="1"/>
          <p:nvPr/>
        </p:nvSpPr>
        <p:spPr>
          <a:xfrm>
            <a:off x="20116800" y="7315200"/>
            <a:ext cx="7543800" cy="19482256"/>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t>WebToSpeech features 4 primary pages: the sign-in page, the dashboard page, the document page, and the profile page. The sign-in page will be a very simple page that will prompt the user to sign in with Google. This will be the only way available to sign in and will be handled using </a:t>
            </a:r>
            <a:r>
              <a:rPr lang="en-US" sz="4200" dirty="0" err="1"/>
              <a:t>Supabase</a:t>
            </a:r>
            <a:r>
              <a:rPr lang="en-US" sz="4200" dirty="0"/>
              <a:t>. The dashboard page will serve as a home page for the website. On this page, the user will be able to upload documents as well as view documents previously uploaded. The document page is where the user can view the contents of uploaded documents and have the document read aloud to them. This page features controls and annotation options at the bottom of the page. The profile page is where the user can see information about their profile. The number of documents a user has will be displayed here. The user may also adjust their account settings on this page.</a:t>
            </a:r>
          </a:p>
          <a:p>
            <a:pPr algn="just"/>
            <a:br>
              <a:rPr lang="en-US" sz="4200" dirty="0"/>
            </a:br>
            <a:endParaRPr lang="en-US" sz="4200" dirty="0">
              <a:effectLst/>
            </a:endParaRPr>
          </a:p>
        </p:txBody>
      </p:sp>
      <p:sp>
        <p:nvSpPr>
          <p:cNvPr id="53" name="TextBox 52">
            <a:extLst>
              <a:ext uri="{FF2B5EF4-FFF2-40B4-BE49-F238E27FC236}">
                <a16:creationId xmlns:a16="http://schemas.microsoft.com/office/drawing/2014/main" id="{9ADEE2E9-7AD4-AF4A-A8DE-2DD6E398169D}"/>
              </a:ext>
            </a:extLst>
          </p:cNvPr>
          <p:cNvSpPr txBox="1"/>
          <p:nvPr/>
        </p:nvSpPr>
        <p:spPr>
          <a:xfrm>
            <a:off x="20116800" y="640079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a:solidFill>
                  <a:srgbClr val="BB1C3F"/>
                </a:solidFill>
              </a:rPr>
              <a:t>Design</a:t>
            </a:r>
          </a:p>
        </p:txBody>
      </p:sp>
      <p:sp>
        <p:nvSpPr>
          <p:cNvPr id="62" name="TextBox 61">
            <a:extLst>
              <a:ext uri="{FF2B5EF4-FFF2-40B4-BE49-F238E27FC236}">
                <a16:creationId xmlns:a16="http://schemas.microsoft.com/office/drawing/2014/main" id="{23E96BFD-241F-9947-B610-650FA9088939}"/>
              </a:ext>
            </a:extLst>
          </p:cNvPr>
          <p:cNvSpPr txBox="1"/>
          <p:nvPr/>
        </p:nvSpPr>
        <p:spPr>
          <a:xfrm>
            <a:off x="29483470" y="24962857"/>
            <a:ext cx="7543800" cy="107721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b="1" i="0" u="none" strike="noStrike" baseline="0">
                <a:solidFill>
                  <a:srgbClr val="BB1C3F"/>
                </a:solidFill>
                <a:latin typeface="Calibri"/>
                <a:ea typeface="Calibri"/>
                <a:cs typeface="Calibri"/>
              </a:rPr>
              <a:t>Figure </a:t>
            </a:r>
            <a:r>
              <a:rPr lang="en-US" sz="3200" b="1">
                <a:solidFill>
                  <a:srgbClr val="BB1C3F"/>
                </a:solidFill>
                <a:latin typeface="Calibri"/>
                <a:ea typeface="Calibri"/>
                <a:cs typeface="Calibri"/>
              </a:rPr>
              <a:t>1: A mobile view of the profile page of the website</a:t>
            </a:r>
            <a:endParaRPr lang="en-US" sz="3200">
              <a:ea typeface="Calibri"/>
              <a:cs typeface="Calibri"/>
            </a:endParaRP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810612"/>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3470" y="27624367"/>
            <a:ext cx="7543800" cy="3323987"/>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514350" indent="-514350" algn="just">
              <a:buAutoNum type="arabicPeriod"/>
            </a:pPr>
            <a:r>
              <a:rPr lang="en-US" sz="4200" dirty="0"/>
              <a:t>React: </a:t>
            </a:r>
            <a:r>
              <a:rPr lang="en-US" sz="4200" dirty="0">
                <a:ea typeface="+mn-lt"/>
                <a:cs typeface="+mn-lt"/>
              </a:rPr>
              <a:t>https://react.dev/</a:t>
            </a:r>
            <a:r>
              <a:rPr lang="en-US" sz="4200" dirty="0"/>
              <a:t>. </a:t>
            </a:r>
            <a:endParaRPr lang="en-US" sz="4200" dirty="0">
              <a:ea typeface="Calibri"/>
              <a:cs typeface="Calibri"/>
            </a:endParaRPr>
          </a:p>
          <a:p>
            <a:pPr marL="514350" indent="-514350" algn="just">
              <a:buAutoNum type="arabicPeriod"/>
            </a:pPr>
            <a:r>
              <a:rPr lang="en-US" sz="4200" dirty="0" err="1"/>
              <a:t>Vercel</a:t>
            </a:r>
            <a:r>
              <a:rPr lang="en-US" sz="4200" dirty="0"/>
              <a:t>: https://vercel.com</a:t>
            </a:r>
            <a:endParaRPr lang="en-US" sz="4200" dirty="0">
              <a:ea typeface="Calibri"/>
              <a:cs typeface="Calibri"/>
            </a:endParaRPr>
          </a:p>
          <a:p>
            <a:pPr marL="514350" indent="-514350" algn="just">
              <a:buAutoNum type="arabicPeriod"/>
            </a:pPr>
            <a:r>
              <a:rPr lang="en-US" sz="4200" dirty="0" err="1">
                <a:ea typeface="Calibri"/>
                <a:cs typeface="Calibri"/>
              </a:rPr>
              <a:t>Supabase</a:t>
            </a:r>
            <a:r>
              <a:rPr lang="en-US" sz="4200" dirty="0">
                <a:ea typeface="Calibri"/>
                <a:cs typeface="Calibri"/>
              </a:rPr>
              <a:t>: https://supabase.com</a:t>
            </a:r>
          </a:p>
          <a:p>
            <a:pPr marL="514350" indent="-514350" algn="just">
              <a:buAutoNum type="arabicPeriod"/>
            </a:pPr>
            <a:r>
              <a:rPr lang="en-US" sz="4200" dirty="0"/>
              <a:t>API:  Web Speech API</a:t>
            </a:r>
            <a:endParaRPr lang="en-US" sz="4200" dirty="0">
              <a:ea typeface="Calibri"/>
              <a:cs typeface="Calibri"/>
            </a:endParaRPr>
          </a:p>
        </p:txBody>
      </p:sp>
      <p:sp>
        <p:nvSpPr>
          <p:cNvPr id="72" name="TextBox 71">
            <a:extLst>
              <a:ext uri="{FF2B5EF4-FFF2-40B4-BE49-F238E27FC236}">
                <a16:creationId xmlns:a16="http://schemas.microsoft.com/office/drawing/2014/main" id="{5E014FC1-89AE-2C42-B656-71AC274FF794}"/>
              </a:ext>
            </a:extLst>
          </p:cNvPr>
          <p:cNvSpPr txBox="1"/>
          <p:nvPr/>
        </p:nvSpPr>
        <p:spPr>
          <a:xfrm>
            <a:off x="29483470" y="3130490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07270" y="32178924"/>
            <a:ext cx="7543800" cy="397031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600" dirty="0"/>
              <a:t>We would like to thank Dr. Karen Meisch for her support of students in the College of Science, Technology, Engineering &amp; Mathematics, and Dr. Leong Lee for his support of students in the Department of Computer Science and Information Technology.</a:t>
            </a:r>
            <a:endParaRPr lang="en-US" sz="3600" dirty="0">
              <a:ea typeface="Calibri"/>
              <a:cs typeface="Calibri"/>
            </a:endParaRP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screen shot of a phone&#10;&#10;AI-generated content may be incorrect.">
            <a:extLst>
              <a:ext uri="{FF2B5EF4-FFF2-40B4-BE49-F238E27FC236}">
                <a16:creationId xmlns:a16="http://schemas.microsoft.com/office/drawing/2014/main" id="{AEC53F8A-134B-C5D5-5134-E6846B29768F}"/>
              </a:ext>
            </a:extLst>
          </p:cNvPr>
          <p:cNvPicPr>
            <a:picLocks noChangeAspect="1"/>
          </p:cNvPicPr>
          <p:nvPr/>
        </p:nvPicPr>
        <p:blipFill>
          <a:blip r:embed="rId4"/>
          <a:stretch>
            <a:fillRect/>
          </a:stretch>
        </p:blipFill>
        <p:spPr>
          <a:xfrm>
            <a:off x="28114834" y="6848776"/>
            <a:ext cx="10287000" cy="18288000"/>
          </a:xfrm>
          <a:prstGeom prst="rect">
            <a:avLst/>
          </a:prstGeom>
        </p:spPr>
      </p:pic>
      <p:sp>
        <p:nvSpPr>
          <p:cNvPr id="8" name="TextBox 7">
            <a:extLst>
              <a:ext uri="{FF2B5EF4-FFF2-40B4-BE49-F238E27FC236}">
                <a16:creationId xmlns:a16="http://schemas.microsoft.com/office/drawing/2014/main" id="{29534E62-418B-692B-7501-CA979C10848F}"/>
              </a:ext>
            </a:extLst>
          </p:cNvPr>
          <p:cNvSpPr txBox="1"/>
          <p:nvPr/>
        </p:nvSpPr>
        <p:spPr>
          <a:xfrm>
            <a:off x="10945130" y="7315200"/>
            <a:ext cx="7543800" cy="8894743"/>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t>WebToSpeech will have several use cases. WebToSpeech can provide accessibility options for users with hearing impairment issues. Individuals who suffer from dyslexia and other similar  issues can  utilize WebToSpeech to make reading easier for them. Users can use the site to play documents in the background while focusing on another task, thereby increasing their productivity.</a:t>
            </a:r>
          </a:p>
        </p:txBody>
      </p:sp>
      <p:sp>
        <p:nvSpPr>
          <p:cNvPr id="10" name="TextBox 9">
            <a:extLst>
              <a:ext uri="{FF2B5EF4-FFF2-40B4-BE49-F238E27FC236}">
                <a16:creationId xmlns:a16="http://schemas.microsoft.com/office/drawing/2014/main" id="{911FE3EB-0089-B566-A5F1-545436813545}"/>
              </a:ext>
            </a:extLst>
          </p:cNvPr>
          <p:cNvSpPr txBox="1"/>
          <p:nvPr/>
        </p:nvSpPr>
        <p:spPr>
          <a:xfrm>
            <a:off x="1094513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ea typeface="Calibri"/>
                <a:cs typeface="Calibri"/>
              </a:rPr>
              <a:t>Use Cases</a:t>
            </a:r>
          </a:p>
        </p:txBody>
      </p:sp>
      <p:sp>
        <p:nvSpPr>
          <p:cNvPr id="12" name="TextBox 11">
            <a:extLst>
              <a:ext uri="{FF2B5EF4-FFF2-40B4-BE49-F238E27FC236}">
                <a16:creationId xmlns:a16="http://schemas.microsoft.com/office/drawing/2014/main" id="{ACE414F4-4FC2-30E9-4391-71E9A5454247}"/>
              </a:ext>
            </a:extLst>
          </p:cNvPr>
          <p:cNvSpPr txBox="1"/>
          <p:nvPr/>
        </p:nvSpPr>
        <p:spPr>
          <a:xfrm>
            <a:off x="10945130" y="16993454"/>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ea typeface="Calibri"/>
                <a:cs typeface="Calibri"/>
              </a:rPr>
              <a:t>Technology</a:t>
            </a:r>
          </a:p>
        </p:txBody>
      </p:sp>
      <p:sp>
        <p:nvSpPr>
          <p:cNvPr id="14" name="TextBox 13">
            <a:extLst>
              <a:ext uri="{FF2B5EF4-FFF2-40B4-BE49-F238E27FC236}">
                <a16:creationId xmlns:a16="http://schemas.microsoft.com/office/drawing/2014/main" id="{54194BD2-C5AB-FCB9-A885-BDC54B637B6D}"/>
              </a:ext>
            </a:extLst>
          </p:cNvPr>
          <p:cNvSpPr txBox="1"/>
          <p:nvPr/>
        </p:nvSpPr>
        <p:spPr>
          <a:xfrm>
            <a:off x="10945130" y="17797175"/>
            <a:ext cx="7543800" cy="7540526"/>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t>WebToSpeech utilizes several technologies and APIs that can be found online. The website was designed using React. User accounts and data storage are handled by </a:t>
            </a:r>
            <a:r>
              <a:rPr lang="en-US" sz="4400" dirty="0" err="1"/>
              <a:t>Supabase</a:t>
            </a:r>
            <a:r>
              <a:rPr lang="en-US" sz="4400" dirty="0"/>
              <a:t>. The website is hosted online using </a:t>
            </a:r>
            <a:r>
              <a:rPr lang="en-US" sz="4400" dirty="0" err="1"/>
              <a:t>Vercel</a:t>
            </a:r>
            <a:r>
              <a:rPr lang="en-US" sz="4400" dirty="0"/>
              <a:t>. The website utilizes the Web Speech API to handle the text-to-speech functions of the website. </a:t>
            </a:r>
            <a:endParaRPr lang="en-US" sz="4400" dirty="0">
              <a:effectLst/>
            </a:endParaRPr>
          </a:p>
        </p:txBody>
      </p:sp>
      <p:pic>
        <p:nvPicPr>
          <p:cNvPr id="18" name="Picture 17" descr="A logo with a book and text&#10;&#10;AI-generated content may be incorrect.">
            <a:extLst>
              <a:ext uri="{FF2B5EF4-FFF2-40B4-BE49-F238E27FC236}">
                <a16:creationId xmlns:a16="http://schemas.microsoft.com/office/drawing/2014/main" id="{18E1C446-39F7-43C9-BEE7-CD5367A135FE}"/>
              </a:ext>
            </a:extLst>
          </p:cNvPr>
          <p:cNvPicPr>
            <a:picLocks noChangeAspect="1"/>
          </p:cNvPicPr>
          <p:nvPr/>
        </p:nvPicPr>
        <p:blipFill>
          <a:blip r:embed="rId5"/>
          <a:stretch>
            <a:fillRect/>
          </a:stretch>
        </p:blipFill>
        <p:spPr>
          <a:xfrm>
            <a:off x="29078876" y="-1184552"/>
            <a:ext cx="8358184" cy="8358184"/>
          </a:xfrm>
          <a:prstGeom prst="rect">
            <a:avLst/>
          </a:prstGeom>
        </p:spPr>
      </p:pic>
      <p:sp>
        <p:nvSpPr>
          <p:cNvPr id="24" name="TextBox 23">
            <a:extLst>
              <a:ext uri="{FF2B5EF4-FFF2-40B4-BE49-F238E27FC236}">
                <a16:creationId xmlns:a16="http://schemas.microsoft.com/office/drawing/2014/main" id="{FCCA223E-6567-1307-FA0D-600EFD17269A}"/>
              </a:ext>
            </a:extLst>
          </p:cNvPr>
          <p:cNvSpPr txBox="1"/>
          <p:nvPr/>
        </p:nvSpPr>
        <p:spPr>
          <a:xfrm>
            <a:off x="1371600" y="36417892"/>
            <a:ext cx="11583497" cy="58477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b="1" i="0" u="none" strike="noStrike" baseline="0" dirty="0">
                <a:solidFill>
                  <a:srgbClr val="BB1C3F"/>
                </a:solidFill>
                <a:latin typeface="Calibri"/>
                <a:ea typeface="Calibri"/>
                <a:cs typeface="Calibri"/>
              </a:rPr>
              <a:t>Figure </a:t>
            </a:r>
            <a:r>
              <a:rPr lang="en-US" sz="3200" b="1" dirty="0">
                <a:solidFill>
                  <a:srgbClr val="BB1C3F"/>
                </a:solidFill>
                <a:latin typeface="Calibri"/>
                <a:ea typeface="Calibri"/>
                <a:cs typeface="Calibri"/>
              </a:rPr>
              <a:t>2: A desktop view of the dashboard page</a:t>
            </a:r>
            <a:endParaRPr lang="en-US" sz="3200" b="1" dirty="0">
              <a:solidFill>
                <a:srgbClr val="BB1C3F"/>
              </a:solidFill>
              <a:ea typeface="Calibri"/>
              <a:cs typeface="Calibri"/>
            </a:endParaRPr>
          </a:p>
        </p:txBody>
      </p:sp>
      <p:pic>
        <p:nvPicPr>
          <p:cNvPr id="26" name="Picture 25" descr="A screenshot of a computer&#10;&#10;AI-generated content may be incorrect.">
            <a:extLst>
              <a:ext uri="{FF2B5EF4-FFF2-40B4-BE49-F238E27FC236}">
                <a16:creationId xmlns:a16="http://schemas.microsoft.com/office/drawing/2014/main" id="{8A6CAB36-3620-EBE1-2334-B5BC98D9B45E}"/>
              </a:ext>
            </a:extLst>
          </p:cNvPr>
          <p:cNvPicPr>
            <a:picLocks noChangeAspect="1"/>
          </p:cNvPicPr>
          <p:nvPr/>
        </p:nvPicPr>
        <p:blipFill>
          <a:blip r:embed="rId6"/>
          <a:stretch>
            <a:fillRect/>
          </a:stretch>
        </p:blipFill>
        <p:spPr>
          <a:xfrm>
            <a:off x="1371600" y="25945965"/>
            <a:ext cx="17747630" cy="9915691"/>
          </a:xfrm>
          <a:prstGeom prst="rect">
            <a:avLst/>
          </a:prstGeom>
        </p:spPr>
      </p:pic>
      <p:sp>
        <p:nvSpPr>
          <p:cNvPr id="2" name="TextBox 1">
            <a:extLst>
              <a:ext uri="{FF2B5EF4-FFF2-40B4-BE49-F238E27FC236}">
                <a16:creationId xmlns:a16="http://schemas.microsoft.com/office/drawing/2014/main" id="{55538707-FE2E-13B3-137A-29271ADAB01F}"/>
              </a:ext>
            </a:extLst>
          </p:cNvPr>
          <p:cNvSpPr txBox="1"/>
          <p:nvPr/>
        </p:nvSpPr>
        <p:spPr>
          <a:xfrm>
            <a:off x="20116800" y="26709964"/>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ea typeface="Calibri"/>
                <a:cs typeface="Calibri"/>
              </a:rPr>
              <a:t>Planned Features</a:t>
            </a:r>
          </a:p>
        </p:txBody>
      </p:sp>
      <p:sp>
        <p:nvSpPr>
          <p:cNvPr id="3" name="TextBox 2">
            <a:extLst>
              <a:ext uri="{FF2B5EF4-FFF2-40B4-BE49-F238E27FC236}">
                <a16:creationId xmlns:a16="http://schemas.microsoft.com/office/drawing/2014/main" id="{BE17E972-A0D9-2A04-2E00-CED230A2A20A}"/>
              </a:ext>
            </a:extLst>
          </p:cNvPr>
          <p:cNvSpPr txBox="1"/>
          <p:nvPr/>
        </p:nvSpPr>
        <p:spPr>
          <a:xfrm>
            <a:off x="20116800" y="27624367"/>
            <a:ext cx="7543800" cy="9048631"/>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200" dirty="0">
                <a:ea typeface="Calibri"/>
                <a:cs typeface="Calibri"/>
              </a:rPr>
              <a:t>If this project were to continue forward, the following features are planned to be added to the website.</a:t>
            </a:r>
          </a:p>
          <a:p>
            <a:pPr marL="514350" indent="-514350" algn="just">
              <a:buAutoNum type="arabicPeriod"/>
            </a:pPr>
            <a:r>
              <a:rPr lang="en-US" sz="4200" dirty="0">
                <a:ea typeface="Calibri"/>
                <a:cs typeface="Calibri"/>
              </a:rPr>
              <a:t>A way to share profiles and collections with others</a:t>
            </a:r>
          </a:p>
          <a:p>
            <a:pPr marL="514350" indent="-514350" algn="just">
              <a:buAutoNum type="arabicPeriod"/>
            </a:pPr>
            <a:r>
              <a:rPr lang="en-US" sz="4200" dirty="0">
                <a:ea typeface="Calibri"/>
                <a:cs typeface="Calibri"/>
              </a:rPr>
              <a:t>More advanced annotation controls in the document section</a:t>
            </a:r>
          </a:p>
          <a:p>
            <a:pPr marL="514350" indent="-514350" algn="just">
              <a:buAutoNum type="arabicPeriod"/>
            </a:pPr>
            <a:r>
              <a:rPr lang="en-US" sz="4200" dirty="0">
                <a:ea typeface="Calibri"/>
                <a:cs typeface="Calibri"/>
              </a:rPr>
              <a:t>More profile options available for users</a:t>
            </a:r>
          </a:p>
          <a:p>
            <a:pPr marL="514350" indent="-514350" algn="just">
              <a:buAutoNum type="arabicPeriod"/>
            </a:pPr>
            <a:r>
              <a:rPr lang="en-US" sz="4200" dirty="0">
                <a:ea typeface="Calibri"/>
                <a:cs typeface="Calibri"/>
              </a:rPr>
              <a:t>More file types supported for uploads</a:t>
            </a:r>
          </a:p>
          <a:p>
            <a:pPr marL="514350" indent="-514350" algn="just">
              <a:buAutoNum type="arabicPeriod"/>
            </a:pPr>
            <a:endParaRPr lang="en-US" sz="3600" dirty="0">
              <a:ea typeface="Calibri"/>
              <a:cs typeface="Calibri"/>
            </a:endParaRPr>
          </a:p>
        </p:txBody>
      </p:sp>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52BAE089D5C42B64EFC9FC460C2E1" ma:contentTypeVersion="11" ma:contentTypeDescription="Create a new document." ma:contentTypeScope="" ma:versionID="19c618a367a1917d16661a09d684b36d">
  <xsd:schema xmlns:xsd="http://www.w3.org/2001/XMLSchema" xmlns:xs="http://www.w3.org/2001/XMLSchema" xmlns:p="http://schemas.microsoft.com/office/2006/metadata/properties" xmlns:ns3="160c9da3-2e30-4bd0-9f4c-b02e88c29530" targetNamespace="http://schemas.microsoft.com/office/2006/metadata/properties" ma:root="true" ma:fieldsID="0fd044677ff2d5d381fd2e9bfcf40809" ns3:_="">
    <xsd:import namespace="160c9da3-2e30-4bd0-9f4c-b02e88c29530"/>
    <xsd:element name="properties">
      <xsd:complexType>
        <xsd:sequence>
          <xsd:element name="documentManagement">
            <xsd:complexType>
              <xsd:all>
                <xsd:element ref="ns3:MediaServiceDateTaken" minOccurs="0"/>
                <xsd:element ref="ns3:MigrationWizId" minOccurs="0"/>
                <xsd:element ref="ns3:MigrationWizIdPermissions" minOccurs="0"/>
                <xsd:element ref="ns3:MigrationWizIdVersion" minOccurs="0"/>
                <xsd:element ref="ns3:_activity" minOccurs="0"/>
                <xsd:element ref="ns3:MediaServiceMetadata" minOccurs="0"/>
                <xsd:element ref="ns3:MediaServiceFastMetadata" minOccurs="0"/>
                <xsd:element ref="ns3:MediaServiceSearchPropertie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c9da3-2e30-4bd0-9f4c-b02e88c2953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igrationWizId" ma:index="9" nillable="true" ma:displayName="MigrationWizId" ma:internalName="MigrationWizId">
      <xsd:simpleType>
        <xsd:restriction base="dms:Text"/>
      </xsd:simpleType>
    </xsd:element>
    <xsd:element name="MigrationWizIdPermissions" ma:index="10" nillable="true" ma:displayName="MigrationWizIdPermissions" ma:internalName="MigrationWizIdPermissions">
      <xsd:simpleType>
        <xsd:restriction base="dms:Text"/>
      </xsd:simpleType>
    </xsd:element>
    <xsd:element name="MigrationWizIdVersion" ma:index="11" nillable="true" ma:displayName="MigrationWizIdVersion" ma:internalName="MigrationWizIdVersion">
      <xsd:simpleType>
        <xsd:restriction base="dms:Text"/>
      </xsd:simpleType>
    </xsd:element>
    <xsd:element name="_activity" ma:index="12" nillable="true" ma:displayName="_activity" ma:hidden="true" ma:internalName="_activity" ma:readOnly="false">
      <xsd:simpleType>
        <xsd:restriction base="dms:Note"/>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igrationWizIdVersion xmlns="160c9da3-2e30-4bd0-9f4c-b02e88c29530" xsi:nil="true"/>
    <MigrationWizIdPermissions xmlns="160c9da3-2e30-4bd0-9f4c-b02e88c29530" xsi:nil="true"/>
    <MigrationWizId xmlns="160c9da3-2e30-4bd0-9f4c-b02e88c29530" xsi:nil="true"/>
    <_activity xmlns="160c9da3-2e30-4bd0-9f4c-b02e88c2953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CCE5C7-3CE5-45CD-8F5C-529F205D0BC8}">
  <ds:schemaRefs>
    <ds:schemaRef ds:uri="160c9da3-2e30-4bd0-9f4c-b02e88c295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CB4B0B7-D050-4885-A03F-CF2D0BFB3029}">
  <ds:schemaRefs>
    <ds:schemaRef ds:uri="http://schemas.microsoft.com/office/infopath/2007/PartnerControls"/>
    <ds:schemaRef ds:uri="http://purl.org/dc/dcmitype/"/>
    <ds:schemaRef ds:uri="160c9da3-2e30-4bd0-9f4c-b02e88c29530"/>
    <ds:schemaRef ds:uri="http://schemas.microsoft.com/office/2006/documentManagement/types"/>
    <ds:schemaRef ds:uri="http://www.w3.org/XML/1998/namespace"/>
    <ds:schemaRef ds:uri="http://purl.org/dc/elements/1.1/"/>
    <ds:schemaRef ds:uri="http://schemas.microsoft.com/office/2006/metadata/properties"/>
    <ds:schemaRef ds:uri="http://purl.org/dc/terms/"/>
    <ds:schemaRef ds:uri="http://schemas.openxmlformats.org/package/2006/metadata/core-properties"/>
  </ds:schemaRefs>
</ds:datastoreItem>
</file>

<file path=customXml/itemProps3.xml><?xml version="1.0" encoding="utf-8"?>
<ds:datastoreItem xmlns:ds="http://schemas.openxmlformats.org/officeDocument/2006/customXml" ds:itemID="{7136744C-2047-4C60-B21E-16E13B439A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TotalTime>
  <Words>604</Words>
  <Application>Microsoft Office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Boone, Chandler B.</cp:lastModifiedBy>
  <cp:revision>2</cp:revision>
  <cp:lastPrinted>2016-07-13T23:56:52Z</cp:lastPrinted>
  <dcterms:created xsi:type="dcterms:W3CDTF">2016-06-13T20:02:52Z</dcterms:created>
  <dcterms:modified xsi:type="dcterms:W3CDTF">2026-04-07T15:18:38Z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0x010100CD952BAE089D5C42B64EFC9FC460C2E1</vt:lpwstr>
  </property>
</Properties>
</file>