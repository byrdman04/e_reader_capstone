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notesMasterIdLst>
    <p:notesMasterId r:id="rId6"/>
  </p:notesMasterIdLst>
  <p:sldIdLst>
    <p:sldId id="257" r:id="rId5"/>
  </p:sldIdLst>
  <p:sldSz cx="38404800" cy="384048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1C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E7BB29-CC04-8240-1B7F-8307DA509908}" v="991" dt="2026-03-31T16:30:56.8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 d="100"/>
          <a:sy n="14" d="100"/>
        </p:scale>
        <p:origin x="2213"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ED9595-0AE4-4B15-B393-D0F1DD0EB94B}" type="datetimeFigureOut">
              <a:rPr lang="en-US" smtClean="0"/>
              <a:t>4/2/2026</a:t>
            </a:fld>
            <a:endParaRPr lang="en-US"/>
          </a:p>
        </p:txBody>
      </p:sp>
      <p:sp>
        <p:nvSpPr>
          <p:cNvPr id="4" name="Slide Image Placeholder 3"/>
          <p:cNvSpPr>
            <a:spLocks noGrp="1" noRot="1" noChangeAspect="1"/>
          </p:cNvSpPr>
          <p:nvPr>
            <p:ph type="sldImg" idx="2"/>
          </p:nvPr>
        </p:nvSpPr>
        <p:spPr>
          <a:xfrm>
            <a:off x="1885950" y="1143000"/>
            <a:ext cx="30861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25C3F-4975-439A-8DC6-D347DA98E7F9}" type="slidenum">
              <a:rPr lang="en-US" smtClean="0"/>
              <a:t>‹#›</a:t>
            </a:fld>
            <a:endParaRPr lang="en-US"/>
          </a:p>
        </p:txBody>
      </p:sp>
    </p:spTree>
    <p:extLst>
      <p:ext uri="{BB962C8B-B14F-4D97-AF65-F5344CB8AC3E}">
        <p14:creationId xmlns:p14="http://schemas.microsoft.com/office/powerpoint/2010/main" val="3463055927"/>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85950" y="1143000"/>
            <a:ext cx="30861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25C3F-4975-439A-8DC6-D347DA98E7F9}" type="slidenum">
              <a:rPr lang="en-US" smtClean="0"/>
              <a:t>1</a:t>
            </a:fld>
            <a:endParaRPr lang="en-US"/>
          </a:p>
        </p:txBody>
      </p:sp>
    </p:spTree>
    <p:extLst>
      <p:ext uri="{BB962C8B-B14F-4D97-AF65-F5344CB8AC3E}">
        <p14:creationId xmlns:p14="http://schemas.microsoft.com/office/powerpoint/2010/main" val="4135253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6285233"/>
            <a:ext cx="32644080" cy="13370560"/>
          </a:xfrm>
        </p:spPr>
        <p:txBody>
          <a:bodyPr anchor="b"/>
          <a:lstStyle>
            <a:lvl1pPr algn="ctr">
              <a:defRPr sz="25200"/>
            </a:lvl1pPr>
          </a:lstStyle>
          <a:p>
            <a:r>
              <a:rPr lang="en-US"/>
              <a:t>Click to edit Master title style</a:t>
            </a:r>
          </a:p>
        </p:txBody>
      </p:sp>
      <p:sp>
        <p:nvSpPr>
          <p:cNvPr id="3" name="Subtitle 2"/>
          <p:cNvSpPr>
            <a:spLocks noGrp="1"/>
          </p:cNvSpPr>
          <p:nvPr>
            <p:ph type="subTitle" idx="1"/>
          </p:nvPr>
        </p:nvSpPr>
        <p:spPr>
          <a:xfrm>
            <a:off x="4800600" y="20171413"/>
            <a:ext cx="28803600" cy="9272267"/>
          </a:xfrm>
        </p:spPr>
        <p:txBody>
          <a:bodyPr/>
          <a:lstStyle>
            <a:lvl1pPr marL="0" indent="0" algn="ctr">
              <a:buNone/>
              <a:defRPr sz="10080"/>
            </a:lvl1pPr>
            <a:lvl2pPr marL="1920240" indent="0" algn="ctr">
              <a:buNone/>
              <a:defRPr sz="840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p>
        </p:txBody>
      </p:sp>
      <p:sp>
        <p:nvSpPr>
          <p:cNvPr id="4" name="Date Placeholder 3"/>
          <p:cNvSpPr>
            <a:spLocks noGrp="1"/>
          </p:cNvSpPr>
          <p:nvPr>
            <p:ph type="dt" sz="half" idx="10"/>
          </p:nvPr>
        </p:nvSpPr>
        <p:spPr/>
        <p:txBody>
          <a:bodyPr/>
          <a:lstStyle/>
          <a:p>
            <a:fld id="{41C03D7F-B796-4B92-B0C7-6D4C9CC8C787}"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478697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C03D7F-B796-4B92-B0C7-6D4C9CC8C787}"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030533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0330" y="9574541"/>
            <a:ext cx="33124140" cy="15975327"/>
          </a:xfrm>
        </p:spPr>
        <p:txBody>
          <a:bodyPr anchor="b"/>
          <a:lstStyle>
            <a:lvl1pPr>
              <a:defRPr sz="25200"/>
            </a:lvl1pPr>
          </a:lstStyle>
          <a:p>
            <a:r>
              <a:rPr lang="en-US"/>
              <a:t>Click to edit Master title style</a:t>
            </a:r>
          </a:p>
        </p:txBody>
      </p:sp>
      <p:sp>
        <p:nvSpPr>
          <p:cNvPr id="3" name="Text Placeholder 2"/>
          <p:cNvSpPr>
            <a:spLocks noGrp="1"/>
          </p:cNvSpPr>
          <p:nvPr>
            <p:ph type="body" idx="1"/>
          </p:nvPr>
        </p:nvSpPr>
        <p:spPr>
          <a:xfrm>
            <a:off x="2620330" y="25701001"/>
            <a:ext cx="33124140" cy="8401047"/>
          </a:xfrm>
        </p:spPr>
        <p:txBody>
          <a:bodyPr/>
          <a:lstStyle>
            <a:lvl1pPr marL="0" indent="0">
              <a:buNone/>
              <a:defRPr sz="10080">
                <a:solidFill>
                  <a:schemeClr val="tx1"/>
                </a:solidFill>
              </a:defRPr>
            </a:lvl1pPr>
            <a:lvl2pPr marL="1920240" indent="0">
              <a:buNone/>
              <a:defRPr sz="8400">
                <a:solidFill>
                  <a:schemeClr val="tx1">
                    <a:tint val="75000"/>
                  </a:schemeClr>
                </a:solidFill>
              </a:defRPr>
            </a:lvl2pPr>
            <a:lvl3pPr marL="3840480" indent="0">
              <a:buNone/>
              <a:defRPr sz="7560">
                <a:solidFill>
                  <a:schemeClr val="tx1">
                    <a:tint val="75000"/>
                  </a:schemeClr>
                </a:solidFill>
              </a:defRPr>
            </a:lvl3pPr>
            <a:lvl4pPr marL="5760720" indent="0">
              <a:buNone/>
              <a:defRPr sz="6720">
                <a:solidFill>
                  <a:schemeClr val="tx1">
                    <a:tint val="75000"/>
                  </a:schemeClr>
                </a:solidFill>
              </a:defRPr>
            </a:lvl4pPr>
            <a:lvl5pPr marL="7680960" indent="0">
              <a:buNone/>
              <a:defRPr sz="6720">
                <a:solidFill>
                  <a:schemeClr val="tx1">
                    <a:tint val="75000"/>
                  </a:schemeClr>
                </a:solidFill>
              </a:defRPr>
            </a:lvl5pPr>
            <a:lvl6pPr marL="9601200" indent="0">
              <a:buNone/>
              <a:defRPr sz="6720">
                <a:solidFill>
                  <a:schemeClr val="tx1">
                    <a:tint val="75000"/>
                  </a:schemeClr>
                </a:solidFill>
              </a:defRPr>
            </a:lvl6pPr>
            <a:lvl7pPr marL="11521440" indent="0">
              <a:buNone/>
              <a:defRPr sz="6720">
                <a:solidFill>
                  <a:schemeClr val="tx1">
                    <a:tint val="75000"/>
                  </a:schemeClr>
                </a:solidFill>
              </a:defRPr>
            </a:lvl7pPr>
            <a:lvl8pPr marL="13441680" indent="0">
              <a:buNone/>
              <a:defRPr sz="6720">
                <a:solidFill>
                  <a:schemeClr val="tx1">
                    <a:tint val="75000"/>
                  </a:schemeClr>
                </a:solidFill>
              </a:defRPr>
            </a:lvl8pPr>
            <a:lvl9pPr marL="1536192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C03D7F-B796-4B92-B0C7-6D4C9CC8C787}"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580593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6403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94424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1C03D7F-B796-4B92-B0C7-6D4C9CC8C787}"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724818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044708"/>
            <a:ext cx="33124140" cy="7423153"/>
          </a:xfrm>
        </p:spPr>
        <p:txBody>
          <a:bodyPr/>
          <a:lstStyle/>
          <a:p>
            <a:r>
              <a:rPr lang="en-US"/>
              <a:t>Click to edit Master title style</a:t>
            </a:r>
          </a:p>
        </p:txBody>
      </p:sp>
      <p:sp>
        <p:nvSpPr>
          <p:cNvPr id="3" name="Text Placeholder 2"/>
          <p:cNvSpPr>
            <a:spLocks noGrp="1"/>
          </p:cNvSpPr>
          <p:nvPr>
            <p:ph type="body" idx="1"/>
          </p:nvPr>
        </p:nvSpPr>
        <p:spPr>
          <a:xfrm>
            <a:off x="2645336" y="9414513"/>
            <a:ext cx="16247028"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4" name="Content Placeholder 3"/>
          <p:cNvSpPr>
            <a:spLocks noGrp="1"/>
          </p:cNvSpPr>
          <p:nvPr>
            <p:ph sz="half" idx="2"/>
          </p:nvPr>
        </p:nvSpPr>
        <p:spPr>
          <a:xfrm>
            <a:off x="2645336" y="14028420"/>
            <a:ext cx="16247028"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9442432" y="9414513"/>
            <a:ext cx="16327042"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6" name="Content Placeholder 5"/>
          <p:cNvSpPr>
            <a:spLocks noGrp="1"/>
          </p:cNvSpPr>
          <p:nvPr>
            <p:ph sz="quarter" idx="4"/>
          </p:nvPr>
        </p:nvSpPr>
        <p:spPr>
          <a:xfrm>
            <a:off x="19442432" y="14028420"/>
            <a:ext cx="16327042"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1C03D7F-B796-4B92-B0C7-6D4C9CC8C787}" type="datetimeFigureOut">
              <a:rPr lang="en-US" smtClean="0"/>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238077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C03D7F-B796-4B92-B0C7-6D4C9CC8C787}" type="datetimeFigureOut">
              <a:rPr lang="en-US" smtClean="0"/>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992770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03D7F-B796-4B92-B0C7-6D4C9CC8C787}" type="datetimeFigureOut">
              <a:rPr lang="en-US" smtClean="0"/>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797709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p>
        </p:txBody>
      </p:sp>
      <p:sp>
        <p:nvSpPr>
          <p:cNvPr id="3" name="Content Placeholder 2"/>
          <p:cNvSpPr>
            <a:spLocks noGrp="1"/>
          </p:cNvSpPr>
          <p:nvPr>
            <p:ph idx="1"/>
          </p:nvPr>
        </p:nvSpPr>
        <p:spPr>
          <a:xfrm>
            <a:off x="16327042" y="5529588"/>
            <a:ext cx="19442430" cy="27292300"/>
          </a:xfrm>
        </p:spPr>
        <p:txBody>
          <a:bodyPr/>
          <a:lstStyle>
            <a:lvl1pPr>
              <a:defRPr sz="13440"/>
            </a:lvl1pPr>
            <a:lvl2pPr>
              <a:defRPr sz="11760"/>
            </a:lvl2pPr>
            <a:lvl3pPr>
              <a:defRPr sz="1008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41C03D7F-B796-4B92-B0C7-6D4C9CC8C787}"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65655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p>
        </p:txBody>
      </p:sp>
      <p:sp>
        <p:nvSpPr>
          <p:cNvPr id="3" name="Picture Placeholder 2"/>
          <p:cNvSpPr>
            <a:spLocks noGrp="1" noChangeAspect="1"/>
          </p:cNvSpPr>
          <p:nvPr>
            <p:ph type="pic" idx="1"/>
          </p:nvPr>
        </p:nvSpPr>
        <p:spPr>
          <a:xfrm>
            <a:off x="16327042" y="5529588"/>
            <a:ext cx="19442430" cy="27292300"/>
          </a:xfrm>
        </p:spPr>
        <p:txBody>
          <a:bodyPr anchor="t"/>
          <a:lstStyle>
            <a:lvl1pPr marL="0" indent="0">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r>
              <a:rPr lang="en-US"/>
              <a:t>Click icon to add picture</a:t>
            </a:r>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41C03D7F-B796-4B92-B0C7-6D4C9CC8C787}"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368644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C03D7F-B796-4B92-B0C7-6D4C9CC8C787}"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4234349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483437" y="2044700"/>
            <a:ext cx="8281035" cy="3254629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640332" y="2044700"/>
            <a:ext cx="24363045" cy="325462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C03D7F-B796-4B92-B0C7-6D4C9CC8C787}"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057291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40330" y="2044708"/>
            <a:ext cx="33124140" cy="742315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640330" y="10223500"/>
            <a:ext cx="33124140" cy="243674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640330" y="35595568"/>
            <a:ext cx="8641080" cy="2044700"/>
          </a:xfrm>
          <a:prstGeom prst="rect">
            <a:avLst/>
          </a:prstGeom>
        </p:spPr>
        <p:txBody>
          <a:bodyPr vert="horz" lIns="91440" tIns="45720" rIns="91440" bIns="45720" rtlCol="0" anchor="ctr"/>
          <a:lstStyle>
            <a:lvl1pPr algn="l">
              <a:defRPr sz="5040">
                <a:solidFill>
                  <a:schemeClr val="tx1">
                    <a:tint val="75000"/>
                  </a:schemeClr>
                </a:solidFill>
              </a:defRPr>
            </a:lvl1pPr>
          </a:lstStyle>
          <a:p>
            <a:fld id="{41C03D7F-B796-4B92-B0C7-6D4C9CC8C787}" type="datetimeFigureOut">
              <a:rPr lang="en-US" smtClean="0"/>
              <a:t>4/2/2026</a:t>
            </a:fld>
            <a:endParaRPr lang="en-US"/>
          </a:p>
        </p:txBody>
      </p:sp>
      <p:sp>
        <p:nvSpPr>
          <p:cNvPr id="5" name="Footer Placeholder 4"/>
          <p:cNvSpPr>
            <a:spLocks noGrp="1"/>
          </p:cNvSpPr>
          <p:nvPr>
            <p:ph type="ftr" sz="quarter" idx="3"/>
          </p:nvPr>
        </p:nvSpPr>
        <p:spPr>
          <a:xfrm>
            <a:off x="12721590" y="35595568"/>
            <a:ext cx="12961620" cy="2044700"/>
          </a:xfrm>
          <a:prstGeom prst="rect">
            <a:avLst/>
          </a:prstGeom>
        </p:spPr>
        <p:txBody>
          <a:bodyPr vert="horz" lIns="91440" tIns="45720" rIns="91440" bIns="45720" rtlCol="0" anchor="ctr"/>
          <a:lstStyle>
            <a:lvl1pPr algn="ctr">
              <a:defRPr sz="50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7123390" y="35595568"/>
            <a:ext cx="8641080" cy="2044700"/>
          </a:xfrm>
          <a:prstGeom prst="rect">
            <a:avLst/>
          </a:prstGeom>
        </p:spPr>
        <p:txBody>
          <a:bodyPr vert="horz" lIns="91440" tIns="45720" rIns="91440" bIns="45720" rtlCol="0" anchor="ctr"/>
          <a:lstStyle>
            <a:lvl1pPr algn="r">
              <a:defRPr sz="5040">
                <a:solidFill>
                  <a:schemeClr val="tx1">
                    <a:tint val="75000"/>
                  </a:schemeClr>
                </a:solidFill>
              </a:defRPr>
            </a:lvl1pPr>
          </a:lstStyle>
          <a:p>
            <a:fld id="{93FD920E-2A97-48E1-B2D4-DF17E46EF288}" type="slidenum">
              <a:rPr lang="en-US" smtClean="0"/>
              <a:t>‹#›</a:t>
            </a:fld>
            <a:endParaRPr lang="en-US"/>
          </a:p>
        </p:txBody>
      </p:sp>
    </p:spTree>
    <p:extLst>
      <p:ext uri="{BB962C8B-B14F-4D97-AF65-F5344CB8AC3E}">
        <p14:creationId xmlns:p14="http://schemas.microsoft.com/office/powerpoint/2010/main" val="211420943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3840480" rtl="0" eaLnBrk="1" latinLnBrk="0" hangingPunct="1">
        <a:lnSpc>
          <a:spcPct val="90000"/>
        </a:lnSpc>
        <a:spcBef>
          <a:spcPct val="0"/>
        </a:spcBef>
        <a:buNone/>
        <a:defRPr sz="18480" kern="1200">
          <a:solidFill>
            <a:schemeClr val="tx1"/>
          </a:solidFill>
          <a:latin typeface="+mj-lt"/>
          <a:ea typeface="+mj-ea"/>
          <a:cs typeface="+mj-cs"/>
        </a:defRPr>
      </a:lvl1pPr>
    </p:titleStyle>
    <p:bodyStyle>
      <a:lvl1pPr marL="960120" indent="-960120" algn="l" defTabSz="3840480" rtl="0" eaLnBrk="1" latinLnBrk="0" hangingPunct="1">
        <a:lnSpc>
          <a:spcPct val="90000"/>
        </a:lnSpc>
        <a:spcBef>
          <a:spcPts val="4200"/>
        </a:spcBef>
        <a:buFont typeface="Arial" panose="020B0604020202020204" pitchFamily="34" charset="0"/>
        <a:buChar char="•"/>
        <a:defRPr sz="11760" kern="1200">
          <a:solidFill>
            <a:schemeClr val="tx1"/>
          </a:solidFill>
          <a:latin typeface="+mn-lt"/>
          <a:ea typeface="+mn-ea"/>
          <a:cs typeface="+mn-cs"/>
        </a:defRPr>
      </a:lvl1pPr>
      <a:lvl2pPr marL="2880360" indent="-960120" algn="l" defTabSz="3840480" rtl="0" eaLnBrk="1" latinLnBrk="0" hangingPunct="1">
        <a:lnSpc>
          <a:spcPct val="90000"/>
        </a:lnSpc>
        <a:spcBef>
          <a:spcPts val="2100"/>
        </a:spcBef>
        <a:buFont typeface="Arial" panose="020B0604020202020204" pitchFamily="34" charset="0"/>
        <a:buChar char="•"/>
        <a:defRPr sz="10080" kern="1200">
          <a:solidFill>
            <a:schemeClr val="tx1"/>
          </a:solidFill>
          <a:latin typeface="+mn-lt"/>
          <a:ea typeface="+mn-ea"/>
          <a:cs typeface="+mn-cs"/>
        </a:defRPr>
      </a:lvl2pPr>
      <a:lvl3pPr marL="4800600" indent="-960120" algn="l" defTabSz="3840480" rtl="0" eaLnBrk="1" latinLnBrk="0" hangingPunct="1">
        <a:lnSpc>
          <a:spcPct val="90000"/>
        </a:lnSpc>
        <a:spcBef>
          <a:spcPts val="2100"/>
        </a:spcBef>
        <a:buFont typeface="Arial" panose="020B0604020202020204" pitchFamily="34" charset="0"/>
        <a:buChar char="•"/>
        <a:defRPr sz="8400" kern="1200">
          <a:solidFill>
            <a:schemeClr val="tx1"/>
          </a:solidFill>
          <a:latin typeface="+mn-lt"/>
          <a:ea typeface="+mn-ea"/>
          <a:cs typeface="+mn-cs"/>
        </a:defRPr>
      </a:lvl3pPr>
      <a:lvl4pPr marL="67208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4pPr>
      <a:lvl5pPr marL="864108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5pPr>
      <a:lvl6pPr marL="1056132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6pPr>
      <a:lvl7pPr marL="1248156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7pPr>
      <a:lvl8pPr marL="1440180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8pPr>
      <a:lvl9pPr marL="163220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1371600" y="7315200"/>
            <a:ext cx="7543800" cy="19797727"/>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200" dirty="0">
                <a:ea typeface="+mn-lt"/>
                <a:cs typeface="+mn-lt"/>
              </a:rPr>
              <a:t>WebToSpeech: a web application designed to provide a simplified, organized reading experience for a wide audience. Users will be able to upload their documents to a database and have them read aloud using text-to-speech synthesis. Organizing a large collection of books and documents can be tedious and disrupt the reading process. To remedy this, WebToSpeech also provides a central hub to organize documents efficiently, sorting them into collections made by the user. Users will be able to create collections by name, add files to those collections, and filter the displayed documents to find only the ones they are searching for. Finally, users will have the option to add annotations and bookmarks to their documents. This will improve the user experience for online document viewing and provide accessibility services to those with reading disabilities.</a:t>
            </a:r>
          </a:p>
          <a:p>
            <a:pPr algn="just"/>
            <a:endParaRPr lang="en-US" sz="3200" dirty="0">
              <a:latin typeface="Calibri"/>
              <a:ea typeface="Calibri"/>
              <a:cs typeface="Calibri"/>
            </a:endParaRPr>
          </a:p>
          <a:p>
            <a:pPr algn="just"/>
            <a:endParaRPr lang="en-US" sz="7250" dirty="0">
              <a:ea typeface="Calibri"/>
              <a:cs typeface="Calibri"/>
            </a:endParaRPr>
          </a:p>
        </p:txBody>
      </p:sp>
      <p:sp>
        <p:nvSpPr>
          <p:cNvPr id="42" name="TextBox 41"/>
          <p:cNvSpPr txBox="1"/>
          <p:nvPr/>
        </p:nvSpPr>
        <p:spPr>
          <a:xfrm>
            <a:off x="1371600" y="6400800"/>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a:solidFill>
                  <a:srgbClr val="BB1C3F"/>
                </a:solidFill>
              </a:rPr>
              <a:t>Abstract</a:t>
            </a:r>
          </a:p>
        </p:txBody>
      </p:sp>
      <p:sp>
        <p:nvSpPr>
          <p:cNvPr id="9" name="TextBox 8"/>
          <p:cNvSpPr txBox="1"/>
          <p:nvPr/>
        </p:nvSpPr>
        <p:spPr>
          <a:xfrm>
            <a:off x="7772400" y="914400"/>
            <a:ext cx="22860000" cy="1446550"/>
          </a:xfrm>
          <a:prstGeom prst="rect">
            <a:avLst/>
          </a:prstGeom>
          <a:solidFill>
            <a:schemeClr val="bg1"/>
          </a:solidFill>
        </p:spPr>
        <p:txBody>
          <a:bodyPr wrap="square" lIns="91440" tIns="45720" rIns="91440" bIns="45720" rtlCol="0" anchor="t">
            <a:spAutoFit/>
          </a:bodyPr>
          <a:lstStyle/>
          <a:p>
            <a:pPr algn="ctr"/>
            <a:r>
              <a:rPr lang="en-US" sz="8800" b="1" err="1">
                <a:solidFill>
                  <a:srgbClr val="BB1C3F"/>
                </a:solidFill>
                <a:ea typeface="Calibri"/>
                <a:cs typeface="Calibri"/>
              </a:rPr>
              <a:t>WebToSpeech</a:t>
            </a:r>
          </a:p>
        </p:txBody>
      </p:sp>
      <p:sp>
        <p:nvSpPr>
          <p:cNvPr id="11" name="TextBox 10"/>
          <p:cNvSpPr txBox="1"/>
          <p:nvPr/>
        </p:nvSpPr>
        <p:spPr>
          <a:xfrm>
            <a:off x="7772400" y="2543144"/>
            <a:ext cx="22860000" cy="923330"/>
          </a:xfrm>
          <a:prstGeom prst="rect">
            <a:avLst/>
          </a:prstGeom>
          <a:noFill/>
        </p:spPr>
        <p:txBody>
          <a:bodyPr wrap="square" lIns="91440" tIns="45720" rIns="91440" bIns="45720" rtlCol="0" anchor="t">
            <a:spAutoFit/>
          </a:bodyPr>
          <a:lstStyle/>
          <a:p>
            <a:pPr algn="ctr"/>
            <a:r>
              <a:rPr lang="en-US" sz="5400">
                <a:ea typeface="Calibri"/>
                <a:cs typeface="Calibri"/>
              </a:rPr>
              <a:t>Chandler Boone, Danny Lee, John Hurley, Brady Byrd</a:t>
            </a:r>
          </a:p>
        </p:txBody>
      </p:sp>
      <p:sp>
        <p:nvSpPr>
          <p:cNvPr id="33" name="TextBox 32">
            <a:extLst>
              <a:ext uri="{FF2B5EF4-FFF2-40B4-BE49-F238E27FC236}">
                <a16:creationId xmlns:a16="http://schemas.microsoft.com/office/drawing/2014/main" id="{131E4EA6-E914-104F-AF0A-B617E4CD864C}"/>
              </a:ext>
            </a:extLst>
          </p:cNvPr>
          <p:cNvSpPr txBox="1"/>
          <p:nvPr/>
        </p:nvSpPr>
        <p:spPr>
          <a:xfrm>
            <a:off x="7772400" y="3730135"/>
            <a:ext cx="22860000" cy="923330"/>
          </a:xfrm>
          <a:prstGeom prst="rect">
            <a:avLst/>
          </a:prstGeom>
          <a:noFill/>
        </p:spPr>
        <p:txBody>
          <a:bodyPr wrap="square" rtlCol="0">
            <a:spAutoFit/>
          </a:bodyPr>
          <a:lstStyle/>
          <a:p>
            <a:pPr algn="ctr"/>
            <a:r>
              <a:rPr lang="en-US" sz="5400"/>
              <a:t>Dept. Of Computer Science and Information Technology</a:t>
            </a:r>
          </a:p>
        </p:txBody>
      </p:sp>
      <p:sp>
        <p:nvSpPr>
          <p:cNvPr id="15" name="Rectangle 14">
            <a:extLst>
              <a:ext uri="{FF2B5EF4-FFF2-40B4-BE49-F238E27FC236}">
                <a16:creationId xmlns:a16="http://schemas.microsoft.com/office/drawing/2014/main" id="{6EE72D31-CE3C-4643-BFC4-AB5A67F9691D}"/>
              </a:ext>
            </a:extLst>
          </p:cNvPr>
          <p:cNvSpPr/>
          <p:nvPr/>
        </p:nvSpPr>
        <p:spPr>
          <a:xfrm>
            <a:off x="0" y="0"/>
            <a:ext cx="38404800" cy="548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10;&#10;Description automatically generated">
            <a:extLst>
              <a:ext uri="{FF2B5EF4-FFF2-40B4-BE49-F238E27FC236}">
                <a16:creationId xmlns:a16="http://schemas.microsoft.com/office/drawing/2014/main" id="{57AC0E8A-34ED-EB42-BEC4-C70D0F19E8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71600" y="914400"/>
            <a:ext cx="6126480" cy="3658870"/>
          </a:xfrm>
          <a:prstGeom prst="rect">
            <a:avLst/>
          </a:prstGeom>
        </p:spPr>
      </p:pic>
      <p:sp>
        <p:nvSpPr>
          <p:cNvPr id="52" name="TextBox 51">
            <a:extLst>
              <a:ext uri="{FF2B5EF4-FFF2-40B4-BE49-F238E27FC236}">
                <a16:creationId xmlns:a16="http://schemas.microsoft.com/office/drawing/2014/main" id="{122B8F71-E134-414F-9A2A-89B6A9482606}"/>
              </a:ext>
            </a:extLst>
          </p:cNvPr>
          <p:cNvSpPr txBox="1"/>
          <p:nvPr/>
        </p:nvSpPr>
        <p:spPr>
          <a:xfrm>
            <a:off x="20116800" y="7315200"/>
            <a:ext cx="7543800" cy="18189595"/>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200" err="1">
                <a:ea typeface="Calibri"/>
                <a:cs typeface="Calibri"/>
              </a:rPr>
              <a:t>WebToSpeech</a:t>
            </a:r>
            <a:r>
              <a:rPr lang="en-US" sz="4200">
                <a:ea typeface="Calibri"/>
                <a:cs typeface="Calibri"/>
              </a:rPr>
              <a:t> features 4 primary pages: the sign in page, the dashboard page, the document page, and the profile page. The sign in page will be a very simple page that will prompt the user to sign in with google. This will be the only way available to sign in and will be handled using </a:t>
            </a:r>
            <a:r>
              <a:rPr lang="en-US" sz="4200" err="1">
                <a:ea typeface="Calibri"/>
                <a:cs typeface="Calibri"/>
              </a:rPr>
              <a:t>Supabase</a:t>
            </a:r>
            <a:r>
              <a:rPr lang="en-US" sz="4200">
                <a:ea typeface="Calibri"/>
                <a:cs typeface="Calibri"/>
              </a:rPr>
              <a:t>. The dashboard page will serve as a home page for the website. On this page the user will be able to upload documents as well as view documents uploaded prior. The document page is where the user can view the contents of uploaded documents and have the document read aloud to them. This page features controls and annotation options at the bottom of the page. The profile page is where the user can see information about their profile. The number of documents a user has will be displayed here. The user may also adjust their account settings on this page.</a:t>
            </a:r>
          </a:p>
        </p:txBody>
      </p:sp>
      <p:sp>
        <p:nvSpPr>
          <p:cNvPr id="53" name="TextBox 52">
            <a:extLst>
              <a:ext uri="{FF2B5EF4-FFF2-40B4-BE49-F238E27FC236}">
                <a16:creationId xmlns:a16="http://schemas.microsoft.com/office/drawing/2014/main" id="{9ADEE2E9-7AD4-AF4A-A8DE-2DD6E398169D}"/>
              </a:ext>
            </a:extLst>
          </p:cNvPr>
          <p:cNvSpPr txBox="1"/>
          <p:nvPr/>
        </p:nvSpPr>
        <p:spPr>
          <a:xfrm>
            <a:off x="20116800" y="6400799"/>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a:solidFill>
                  <a:srgbClr val="BB1C3F"/>
                </a:solidFill>
              </a:rPr>
              <a:t>Design</a:t>
            </a:r>
          </a:p>
        </p:txBody>
      </p:sp>
      <p:sp>
        <p:nvSpPr>
          <p:cNvPr id="62" name="TextBox 61">
            <a:extLst>
              <a:ext uri="{FF2B5EF4-FFF2-40B4-BE49-F238E27FC236}">
                <a16:creationId xmlns:a16="http://schemas.microsoft.com/office/drawing/2014/main" id="{23E96BFD-241F-9947-B610-650FA9088939}"/>
              </a:ext>
            </a:extLst>
          </p:cNvPr>
          <p:cNvSpPr txBox="1"/>
          <p:nvPr/>
        </p:nvSpPr>
        <p:spPr>
          <a:xfrm>
            <a:off x="29483470" y="24962857"/>
            <a:ext cx="7543800" cy="1077218"/>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3200" b="1" i="0" u="none" strike="noStrike" baseline="0">
                <a:solidFill>
                  <a:srgbClr val="BB1C3F"/>
                </a:solidFill>
                <a:latin typeface="Calibri"/>
                <a:ea typeface="Calibri"/>
                <a:cs typeface="Calibri"/>
              </a:rPr>
              <a:t>Figure </a:t>
            </a:r>
            <a:r>
              <a:rPr lang="en-US" sz="3200" b="1">
                <a:solidFill>
                  <a:srgbClr val="BB1C3F"/>
                </a:solidFill>
                <a:latin typeface="Calibri"/>
                <a:ea typeface="Calibri"/>
                <a:cs typeface="Calibri"/>
              </a:rPr>
              <a:t>1: A mobile view of the profile page of the website</a:t>
            </a:r>
            <a:endParaRPr lang="en-US" sz="3200">
              <a:ea typeface="Calibri"/>
              <a:cs typeface="Calibri"/>
            </a:endParaRPr>
          </a:p>
        </p:txBody>
      </p:sp>
      <p:sp>
        <p:nvSpPr>
          <p:cNvPr id="67" name="TextBox 66">
            <a:extLst>
              <a:ext uri="{FF2B5EF4-FFF2-40B4-BE49-F238E27FC236}">
                <a16:creationId xmlns:a16="http://schemas.microsoft.com/office/drawing/2014/main" id="{8E91F93C-A7BD-B64A-849B-B4DA616BE3FB}"/>
              </a:ext>
            </a:extLst>
          </p:cNvPr>
          <p:cNvSpPr txBox="1"/>
          <p:nvPr/>
        </p:nvSpPr>
        <p:spPr>
          <a:xfrm>
            <a:off x="29489400" y="26910791"/>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a:solidFill>
                  <a:srgbClr val="BB1C3F"/>
                </a:solidFill>
              </a:rPr>
              <a:t>References</a:t>
            </a:r>
          </a:p>
        </p:txBody>
      </p:sp>
      <p:sp>
        <p:nvSpPr>
          <p:cNvPr id="71" name="TextBox 70">
            <a:extLst>
              <a:ext uri="{FF2B5EF4-FFF2-40B4-BE49-F238E27FC236}">
                <a16:creationId xmlns:a16="http://schemas.microsoft.com/office/drawing/2014/main" id="{91F0780E-0709-FD48-B93E-B99DCFE28DBE}"/>
              </a:ext>
            </a:extLst>
          </p:cNvPr>
          <p:cNvSpPr txBox="1"/>
          <p:nvPr/>
        </p:nvSpPr>
        <p:spPr>
          <a:xfrm>
            <a:off x="29489400" y="27988158"/>
            <a:ext cx="7543800" cy="2308324"/>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marL="514350" indent="-514350" algn="just">
              <a:buAutoNum type="arabicPeriod"/>
            </a:pPr>
            <a:r>
              <a:rPr lang="en-US" sz="3600"/>
              <a:t>React: </a:t>
            </a:r>
            <a:r>
              <a:rPr lang="en-US" sz="3600">
                <a:ea typeface="+mn-lt"/>
                <a:cs typeface="+mn-lt"/>
              </a:rPr>
              <a:t>https://react.dev/</a:t>
            </a:r>
            <a:r>
              <a:rPr lang="en-US" sz="3600"/>
              <a:t>. </a:t>
            </a:r>
            <a:endParaRPr lang="en-US" sz="3600">
              <a:ea typeface="Calibri"/>
              <a:cs typeface="Calibri"/>
            </a:endParaRPr>
          </a:p>
          <a:p>
            <a:pPr marL="514350" indent="-514350" algn="just">
              <a:buAutoNum type="arabicPeriod"/>
            </a:pPr>
            <a:r>
              <a:rPr lang="en-US" sz="3600" err="1"/>
              <a:t>Vercel</a:t>
            </a:r>
            <a:r>
              <a:rPr lang="en-US" sz="3600"/>
              <a:t>: https://vercel.com</a:t>
            </a:r>
            <a:endParaRPr lang="en-US" sz="3600">
              <a:ea typeface="Calibri"/>
              <a:cs typeface="Calibri"/>
            </a:endParaRPr>
          </a:p>
          <a:p>
            <a:pPr marL="514350" indent="-514350" algn="just">
              <a:buAutoNum type="arabicPeriod"/>
            </a:pPr>
            <a:r>
              <a:rPr lang="en-US" sz="3600" err="1">
                <a:ea typeface="Calibri"/>
                <a:cs typeface="Calibri"/>
              </a:rPr>
              <a:t>Supabase</a:t>
            </a:r>
            <a:r>
              <a:rPr lang="en-US" sz="3600">
                <a:ea typeface="Calibri"/>
                <a:cs typeface="Calibri"/>
              </a:rPr>
              <a:t>: https://supabase.com</a:t>
            </a:r>
          </a:p>
          <a:p>
            <a:pPr marL="514350" indent="-514350" algn="just">
              <a:buAutoNum type="arabicPeriod"/>
            </a:pPr>
            <a:r>
              <a:rPr lang="en-US" sz="3600"/>
              <a:t>API:  </a:t>
            </a:r>
            <a:endParaRPr lang="en-US" sz="3600">
              <a:ea typeface="Calibri"/>
              <a:cs typeface="Calibri"/>
            </a:endParaRPr>
          </a:p>
        </p:txBody>
      </p:sp>
      <p:sp>
        <p:nvSpPr>
          <p:cNvPr id="72" name="TextBox 71">
            <a:extLst>
              <a:ext uri="{FF2B5EF4-FFF2-40B4-BE49-F238E27FC236}">
                <a16:creationId xmlns:a16="http://schemas.microsoft.com/office/drawing/2014/main" id="{5E014FC1-89AE-2C42-B656-71AC274FF794}"/>
              </a:ext>
            </a:extLst>
          </p:cNvPr>
          <p:cNvSpPr txBox="1"/>
          <p:nvPr/>
        </p:nvSpPr>
        <p:spPr>
          <a:xfrm>
            <a:off x="29489400" y="32497775"/>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a:solidFill>
                  <a:srgbClr val="BB1C3F"/>
                </a:solidFill>
              </a:rPr>
              <a:t>Acknowledgements</a:t>
            </a:r>
          </a:p>
        </p:txBody>
      </p:sp>
      <p:sp>
        <p:nvSpPr>
          <p:cNvPr id="74" name="TextBox 73">
            <a:extLst>
              <a:ext uri="{FF2B5EF4-FFF2-40B4-BE49-F238E27FC236}">
                <a16:creationId xmlns:a16="http://schemas.microsoft.com/office/drawing/2014/main" id="{D3B353B1-5EC5-9B40-8654-50B3A5F38B70}"/>
              </a:ext>
            </a:extLst>
          </p:cNvPr>
          <p:cNvSpPr txBox="1"/>
          <p:nvPr/>
        </p:nvSpPr>
        <p:spPr>
          <a:xfrm>
            <a:off x="29413200" y="33371790"/>
            <a:ext cx="7543800" cy="3970318"/>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3600"/>
              <a:t>We would like to thank Dr. Karen Meisch for her support of students in the College of Science, Technology, Engineering &amp; Mathematics, and Dr. Leong Lee for his support of students in the Department of Computer Science and Information Technology.</a:t>
            </a:r>
            <a:endParaRPr lang="en-US" sz="3600">
              <a:ea typeface="Calibri"/>
              <a:cs typeface="Calibri"/>
            </a:endParaRPr>
          </a:p>
        </p:txBody>
      </p:sp>
      <p:cxnSp>
        <p:nvCxnSpPr>
          <p:cNvPr id="78" name="Straight Connector 77">
            <a:extLst>
              <a:ext uri="{FF2B5EF4-FFF2-40B4-BE49-F238E27FC236}">
                <a16:creationId xmlns:a16="http://schemas.microsoft.com/office/drawing/2014/main" id="{13D3A641-3556-174E-81A8-FB2A256E9AF5}"/>
              </a:ext>
            </a:extLst>
          </p:cNvPr>
          <p:cNvCxnSpPr/>
          <p:nvPr/>
        </p:nvCxnSpPr>
        <p:spPr>
          <a:xfrm>
            <a:off x="1371600" y="5715000"/>
            <a:ext cx="356616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A screen shot of a phone&#10;&#10;AI-generated content may be incorrect.">
            <a:extLst>
              <a:ext uri="{FF2B5EF4-FFF2-40B4-BE49-F238E27FC236}">
                <a16:creationId xmlns:a16="http://schemas.microsoft.com/office/drawing/2014/main" id="{AEC53F8A-134B-C5D5-5134-E6846B29768F}"/>
              </a:ext>
            </a:extLst>
          </p:cNvPr>
          <p:cNvPicPr>
            <a:picLocks noChangeAspect="1"/>
          </p:cNvPicPr>
          <p:nvPr/>
        </p:nvPicPr>
        <p:blipFill>
          <a:blip r:embed="rId4"/>
          <a:stretch>
            <a:fillRect/>
          </a:stretch>
        </p:blipFill>
        <p:spPr>
          <a:xfrm>
            <a:off x="28114834" y="6848776"/>
            <a:ext cx="10287000" cy="18288000"/>
          </a:xfrm>
          <a:prstGeom prst="rect">
            <a:avLst/>
          </a:prstGeom>
        </p:spPr>
      </p:pic>
      <p:sp>
        <p:nvSpPr>
          <p:cNvPr id="8" name="TextBox 7">
            <a:extLst>
              <a:ext uri="{FF2B5EF4-FFF2-40B4-BE49-F238E27FC236}">
                <a16:creationId xmlns:a16="http://schemas.microsoft.com/office/drawing/2014/main" id="{29534E62-418B-692B-7501-CA979C10848F}"/>
              </a:ext>
            </a:extLst>
          </p:cNvPr>
          <p:cNvSpPr txBox="1"/>
          <p:nvPr/>
        </p:nvSpPr>
        <p:spPr>
          <a:xfrm>
            <a:off x="10945130" y="7315200"/>
            <a:ext cx="7543800" cy="10102766"/>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200" dirty="0">
                <a:ea typeface="+mn-lt"/>
                <a:cs typeface="+mn-lt"/>
              </a:rPr>
              <a:t>WebToSpeech will have several use cases. WebToSpeech can provide accessibility options for users with hearing impairment issues. Individuals who suffer from dyslexia and other similar  issues can  utilize WebToSpeech to make reading easier for them. Users can use the site to play documents in the background as they focus on another task, increasing their productivity.</a:t>
            </a:r>
          </a:p>
          <a:p>
            <a:pPr algn="just"/>
            <a:endParaRPr lang="en-US" sz="3200" dirty="0">
              <a:latin typeface="Calibri"/>
              <a:ea typeface="Calibri"/>
              <a:cs typeface="Calibri"/>
            </a:endParaRPr>
          </a:p>
          <a:p>
            <a:pPr algn="just"/>
            <a:endParaRPr lang="en-US" sz="7250" dirty="0">
              <a:ea typeface="Calibri"/>
              <a:cs typeface="Calibri"/>
            </a:endParaRPr>
          </a:p>
        </p:txBody>
      </p:sp>
      <p:sp>
        <p:nvSpPr>
          <p:cNvPr id="10" name="TextBox 9">
            <a:extLst>
              <a:ext uri="{FF2B5EF4-FFF2-40B4-BE49-F238E27FC236}">
                <a16:creationId xmlns:a16="http://schemas.microsoft.com/office/drawing/2014/main" id="{911FE3EB-0089-B566-A5F1-545436813545}"/>
              </a:ext>
            </a:extLst>
          </p:cNvPr>
          <p:cNvSpPr txBox="1"/>
          <p:nvPr/>
        </p:nvSpPr>
        <p:spPr>
          <a:xfrm>
            <a:off x="10945130" y="6400800"/>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spAutoFit/>
          </a:bodyPr>
          <a:lstStyle/>
          <a:p>
            <a:pPr algn="ctr"/>
            <a:r>
              <a:rPr lang="en-US" sz="4800" b="1">
                <a:solidFill>
                  <a:srgbClr val="BB1C3F"/>
                </a:solidFill>
                <a:ea typeface="Calibri"/>
                <a:cs typeface="Calibri"/>
              </a:rPr>
              <a:t>Use Cases</a:t>
            </a:r>
          </a:p>
        </p:txBody>
      </p:sp>
      <p:sp>
        <p:nvSpPr>
          <p:cNvPr id="12" name="TextBox 11">
            <a:extLst>
              <a:ext uri="{FF2B5EF4-FFF2-40B4-BE49-F238E27FC236}">
                <a16:creationId xmlns:a16="http://schemas.microsoft.com/office/drawing/2014/main" id="{ACE414F4-4FC2-30E9-4391-71E9A5454247}"/>
              </a:ext>
            </a:extLst>
          </p:cNvPr>
          <p:cNvSpPr txBox="1"/>
          <p:nvPr/>
        </p:nvSpPr>
        <p:spPr>
          <a:xfrm>
            <a:off x="10945130" y="17247114"/>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spAutoFit/>
          </a:bodyPr>
          <a:lstStyle/>
          <a:p>
            <a:pPr algn="ctr"/>
            <a:r>
              <a:rPr lang="en-US" sz="4800" b="1">
                <a:solidFill>
                  <a:srgbClr val="BB1C3F"/>
                </a:solidFill>
                <a:ea typeface="Calibri"/>
                <a:cs typeface="Calibri"/>
              </a:rPr>
              <a:t>Technology</a:t>
            </a:r>
          </a:p>
        </p:txBody>
      </p:sp>
      <p:sp>
        <p:nvSpPr>
          <p:cNvPr id="14" name="TextBox 13">
            <a:extLst>
              <a:ext uri="{FF2B5EF4-FFF2-40B4-BE49-F238E27FC236}">
                <a16:creationId xmlns:a16="http://schemas.microsoft.com/office/drawing/2014/main" id="{54194BD2-C5AB-FCB9-A885-BDC54B637B6D}"/>
              </a:ext>
            </a:extLst>
          </p:cNvPr>
          <p:cNvSpPr txBox="1"/>
          <p:nvPr/>
        </p:nvSpPr>
        <p:spPr>
          <a:xfrm>
            <a:off x="10945130" y="18050835"/>
            <a:ext cx="7543800" cy="6555641"/>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200" dirty="0">
                <a:ea typeface="+mn-lt"/>
                <a:cs typeface="+mn-lt"/>
              </a:rPr>
              <a:t>WebToSpeech utilizes several technologies and APIs found online. The website was designed using React. User accounts and data storage is handled by </a:t>
            </a:r>
            <a:r>
              <a:rPr lang="en-US" sz="4200" dirty="0" err="1">
                <a:ea typeface="+mn-lt"/>
                <a:cs typeface="+mn-lt"/>
              </a:rPr>
              <a:t>Supabase</a:t>
            </a:r>
            <a:r>
              <a:rPr lang="en-US" sz="4200" dirty="0">
                <a:ea typeface="+mn-lt"/>
                <a:cs typeface="+mn-lt"/>
              </a:rPr>
              <a:t>. The website is hosted online using </a:t>
            </a:r>
            <a:r>
              <a:rPr lang="en-US" sz="4200" dirty="0" err="1">
                <a:ea typeface="+mn-lt"/>
                <a:cs typeface="+mn-lt"/>
              </a:rPr>
              <a:t>Vercel</a:t>
            </a:r>
            <a:r>
              <a:rPr lang="en-US" sz="4200" dirty="0">
                <a:ea typeface="+mn-lt"/>
                <a:cs typeface="+mn-lt"/>
              </a:rPr>
              <a:t>. The website utilizes (INSERT API) to handle the text to speech functions of the website. </a:t>
            </a:r>
            <a:endParaRPr lang="en-US" sz="4200" dirty="0">
              <a:ea typeface="Calibri"/>
              <a:cs typeface="Calibri"/>
            </a:endParaRPr>
          </a:p>
        </p:txBody>
      </p:sp>
      <p:pic>
        <p:nvPicPr>
          <p:cNvPr id="18" name="Picture 17" descr="A logo with a book and text&#10;&#10;AI-generated content may be incorrect.">
            <a:extLst>
              <a:ext uri="{FF2B5EF4-FFF2-40B4-BE49-F238E27FC236}">
                <a16:creationId xmlns:a16="http://schemas.microsoft.com/office/drawing/2014/main" id="{18E1C446-39F7-43C9-BEE7-CD5367A135FE}"/>
              </a:ext>
            </a:extLst>
          </p:cNvPr>
          <p:cNvPicPr>
            <a:picLocks noChangeAspect="1"/>
          </p:cNvPicPr>
          <p:nvPr/>
        </p:nvPicPr>
        <p:blipFill>
          <a:blip r:embed="rId5"/>
          <a:stretch>
            <a:fillRect/>
          </a:stretch>
        </p:blipFill>
        <p:spPr>
          <a:xfrm>
            <a:off x="28114835" y="-2155230"/>
            <a:ext cx="10287000" cy="10287000"/>
          </a:xfrm>
          <a:prstGeom prst="rect">
            <a:avLst/>
          </a:prstGeom>
        </p:spPr>
      </p:pic>
      <p:sp>
        <p:nvSpPr>
          <p:cNvPr id="24" name="TextBox 23">
            <a:extLst>
              <a:ext uri="{FF2B5EF4-FFF2-40B4-BE49-F238E27FC236}">
                <a16:creationId xmlns:a16="http://schemas.microsoft.com/office/drawing/2014/main" id="{FCCA223E-6567-1307-FA0D-600EFD17269A}"/>
              </a:ext>
            </a:extLst>
          </p:cNvPr>
          <p:cNvSpPr txBox="1"/>
          <p:nvPr/>
        </p:nvSpPr>
        <p:spPr>
          <a:xfrm>
            <a:off x="707540" y="36417892"/>
            <a:ext cx="11583497" cy="584775"/>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3200" b="1" i="0" u="none" strike="noStrike" baseline="0">
                <a:solidFill>
                  <a:srgbClr val="BB1C3F"/>
                </a:solidFill>
                <a:latin typeface="Calibri"/>
                <a:ea typeface="Calibri"/>
                <a:cs typeface="Calibri"/>
              </a:rPr>
              <a:t>Figure </a:t>
            </a:r>
            <a:r>
              <a:rPr lang="en-US" sz="3200" b="1">
                <a:solidFill>
                  <a:srgbClr val="BB1C3F"/>
                </a:solidFill>
                <a:latin typeface="Calibri"/>
                <a:ea typeface="Calibri"/>
                <a:cs typeface="Calibri"/>
              </a:rPr>
              <a:t>2: A desktop view of the dashboard page</a:t>
            </a:r>
            <a:endParaRPr lang="en-US" sz="3200" b="1">
              <a:solidFill>
                <a:srgbClr val="BB1C3F"/>
              </a:solidFill>
              <a:ea typeface="Calibri"/>
              <a:cs typeface="Calibri"/>
            </a:endParaRPr>
          </a:p>
        </p:txBody>
      </p:sp>
      <p:pic>
        <p:nvPicPr>
          <p:cNvPr id="26" name="Picture 25" descr="A screenshot of a computer&#10;&#10;AI-generated content may be incorrect.">
            <a:extLst>
              <a:ext uri="{FF2B5EF4-FFF2-40B4-BE49-F238E27FC236}">
                <a16:creationId xmlns:a16="http://schemas.microsoft.com/office/drawing/2014/main" id="{8A6CAB36-3620-EBE1-2334-B5BC98D9B45E}"/>
              </a:ext>
            </a:extLst>
          </p:cNvPr>
          <p:cNvPicPr>
            <a:picLocks noChangeAspect="1"/>
          </p:cNvPicPr>
          <p:nvPr/>
        </p:nvPicPr>
        <p:blipFill>
          <a:blip r:embed="rId6"/>
          <a:stretch>
            <a:fillRect/>
          </a:stretch>
        </p:blipFill>
        <p:spPr>
          <a:xfrm>
            <a:off x="727386" y="26059286"/>
            <a:ext cx="17747630" cy="9915691"/>
          </a:xfrm>
          <a:prstGeom prst="rect">
            <a:avLst/>
          </a:prstGeom>
        </p:spPr>
      </p:pic>
      <p:sp>
        <p:nvSpPr>
          <p:cNvPr id="2" name="TextBox 1">
            <a:extLst>
              <a:ext uri="{FF2B5EF4-FFF2-40B4-BE49-F238E27FC236}">
                <a16:creationId xmlns:a16="http://schemas.microsoft.com/office/drawing/2014/main" id="{55538707-FE2E-13B3-137A-29271ADAB01F}"/>
              </a:ext>
            </a:extLst>
          </p:cNvPr>
          <p:cNvSpPr txBox="1"/>
          <p:nvPr/>
        </p:nvSpPr>
        <p:spPr>
          <a:xfrm>
            <a:off x="20116800" y="26709964"/>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spAutoFit/>
          </a:bodyPr>
          <a:lstStyle/>
          <a:p>
            <a:pPr algn="ctr"/>
            <a:r>
              <a:rPr lang="en-US" sz="4800" b="1">
                <a:solidFill>
                  <a:srgbClr val="BB1C3F"/>
                </a:solidFill>
                <a:ea typeface="Calibri"/>
                <a:cs typeface="Calibri"/>
              </a:rPr>
              <a:t>Planned Features</a:t>
            </a:r>
          </a:p>
        </p:txBody>
      </p:sp>
      <p:sp>
        <p:nvSpPr>
          <p:cNvPr id="3" name="TextBox 2">
            <a:extLst>
              <a:ext uri="{FF2B5EF4-FFF2-40B4-BE49-F238E27FC236}">
                <a16:creationId xmlns:a16="http://schemas.microsoft.com/office/drawing/2014/main" id="{BE17E972-A0D9-2A04-2E00-CED230A2A20A}"/>
              </a:ext>
            </a:extLst>
          </p:cNvPr>
          <p:cNvSpPr txBox="1"/>
          <p:nvPr/>
        </p:nvSpPr>
        <p:spPr>
          <a:xfrm>
            <a:off x="20116800" y="27624367"/>
            <a:ext cx="7543800" cy="9048631"/>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200">
                <a:ea typeface="Calibri"/>
                <a:cs typeface="Calibri"/>
              </a:rPr>
              <a:t>If this project were to continue forward, the following features are planned to be added to the website.</a:t>
            </a:r>
          </a:p>
          <a:p>
            <a:pPr marL="514350" indent="-514350" algn="just">
              <a:buAutoNum type="arabicPeriod"/>
            </a:pPr>
            <a:r>
              <a:rPr lang="en-US" sz="4200">
                <a:ea typeface="Calibri"/>
                <a:cs typeface="Calibri"/>
              </a:rPr>
              <a:t>A way to share profiles and collections with others</a:t>
            </a:r>
          </a:p>
          <a:p>
            <a:pPr marL="514350" indent="-514350" algn="just">
              <a:buAutoNum type="arabicPeriod"/>
            </a:pPr>
            <a:r>
              <a:rPr lang="en-US" sz="4200">
                <a:ea typeface="Calibri"/>
                <a:cs typeface="Calibri"/>
              </a:rPr>
              <a:t>More advanced annotation controls in the document section</a:t>
            </a:r>
          </a:p>
          <a:p>
            <a:pPr marL="514350" indent="-514350" algn="just">
              <a:buAutoNum type="arabicPeriod"/>
            </a:pPr>
            <a:r>
              <a:rPr lang="en-US" sz="4200">
                <a:ea typeface="Calibri"/>
                <a:cs typeface="Calibri"/>
              </a:rPr>
              <a:t>More profile options available for users</a:t>
            </a:r>
          </a:p>
          <a:p>
            <a:pPr marL="514350" indent="-514350" algn="just">
              <a:buAutoNum type="arabicPeriod"/>
            </a:pPr>
            <a:r>
              <a:rPr lang="en-US" sz="4200">
                <a:ea typeface="Calibri"/>
                <a:cs typeface="Calibri"/>
              </a:rPr>
              <a:t>More file types supported for uploads</a:t>
            </a:r>
          </a:p>
          <a:p>
            <a:pPr marL="514350" indent="-514350" algn="just">
              <a:buAutoNum type="arabicPeriod"/>
            </a:pPr>
            <a:endParaRPr lang="en-US" sz="3600">
              <a:ea typeface="Calibri"/>
              <a:cs typeface="Calibri"/>
            </a:endParaRPr>
          </a:p>
        </p:txBody>
      </p:sp>
    </p:spTree>
    <p:extLst>
      <p:ext uri="{BB962C8B-B14F-4D97-AF65-F5344CB8AC3E}">
        <p14:creationId xmlns:p14="http://schemas.microsoft.com/office/powerpoint/2010/main" val="27096606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igrationWizIdVersion xmlns="160c9da3-2e30-4bd0-9f4c-b02e88c29530" xsi:nil="true"/>
    <MigrationWizIdPermissions xmlns="160c9da3-2e30-4bd0-9f4c-b02e88c29530" xsi:nil="true"/>
    <MigrationWizId xmlns="160c9da3-2e30-4bd0-9f4c-b02e88c29530" xsi:nil="true"/>
    <_activity xmlns="160c9da3-2e30-4bd0-9f4c-b02e88c2953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D952BAE089D5C42B64EFC9FC460C2E1" ma:contentTypeVersion="11" ma:contentTypeDescription="Create a new document." ma:contentTypeScope="" ma:versionID="19c618a367a1917d16661a09d684b36d">
  <xsd:schema xmlns:xsd="http://www.w3.org/2001/XMLSchema" xmlns:xs="http://www.w3.org/2001/XMLSchema" xmlns:p="http://schemas.microsoft.com/office/2006/metadata/properties" xmlns:ns3="160c9da3-2e30-4bd0-9f4c-b02e88c29530" targetNamespace="http://schemas.microsoft.com/office/2006/metadata/properties" ma:root="true" ma:fieldsID="0fd044677ff2d5d381fd2e9bfcf40809" ns3:_="">
    <xsd:import namespace="160c9da3-2e30-4bd0-9f4c-b02e88c29530"/>
    <xsd:element name="properties">
      <xsd:complexType>
        <xsd:sequence>
          <xsd:element name="documentManagement">
            <xsd:complexType>
              <xsd:all>
                <xsd:element ref="ns3:MediaServiceDateTaken" minOccurs="0"/>
                <xsd:element ref="ns3:MigrationWizId" minOccurs="0"/>
                <xsd:element ref="ns3:MigrationWizIdPermissions" minOccurs="0"/>
                <xsd:element ref="ns3:MigrationWizIdVersion" minOccurs="0"/>
                <xsd:element ref="ns3:_activity" minOccurs="0"/>
                <xsd:element ref="ns3:MediaServiceMetadata" minOccurs="0"/>
                <xsd:element ref="ns3:MediaServiceFastMetadata" minOccurs="0"/>
                <xsd:element ref="ns3:MediaServiceSearchPropertie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0c9da3-2e30-4bd0-9f4c-b02e88c2953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igrationWizId" ma:index="9" nillable="true" ma:displayName="MigrationWizId" ma:internalName="MigrationWizId">
      <xsd:simpleType>
        <xsd:restriction base="dms:Text"/>
      </xsd:simpleType>
    </xsd:element>
    <xsd:element name="MigrationWizIdPermissions" ma:index="10" nillable="true" ma:displayName="MigrationWizIdPermissions" ma:internalName="MigrationWizIdPermissions">
      <xsd:simpleType>
        <xsd:restriction base="dms:Text"/>
      </xsd:simpleType>
    </xsd:element>
    <xsd:element name="MigrationWizIdVersion" ma:index="11" nillable="true" ma:displayName="MigrationWizIdVersion" ma:internalName="MigrationWizIdVersion">
      <xsd:simpleType>
        <xsd:restriction base="dms:Text"/>
      </xsd:simpleType>
    </xsd:element>
    <xsd:element name="_activity" ma:index="12" nillable="true" ma:displayName="_activity" ma:hidden="true" ma:internalName="_activity" ma:readOnly="false">
      <xsd:simpleType>
        <xsd:restriction base="dms:Note"/>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136744C-2047-4C60-B21E-16E13B439AF7}">
  <ds:schemaRefs>
    <ds:schemaRef ds:uri="http://schemas.microsoft.com/sharepoint/v3/contenttype/forms"/>
  </ds:schemaRefs>
</ds:datastoreItem>
</file>

<file path=customXml/itemProps2.xml><?xml version="1.0" encoding="utf-8"?>
<ds:datastoreItem xmlns:ds="http://schemas.openxmlformats.org/officeDocument/2006/customXml" ds:itemID="{3CB4B0B7-D050-4885-A03F-CF2D0BFB3029}">
  <ds:schemaRefs>
    <ds:schemaRef ds:uri="http://schemas.microsoft.com/office/2006/metadata/properties"/>
    <ds:schemaRef ds:uri="http://purl.org/dc/term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160c9da3-2e30-4bd0-9f4c-b02e88c29530"/>
    <ds:schemaRef ds:uri="http://www.w3.org/XML/1998/namespace"/>
    <ds:schemaRef ds:uri="http://purl.org/dc/dcmitype/"/>
  </ds:schemaRefs>
</ds:datastoreItem>
</file>

<file path=customXml/itemProps3.xml><?xml version="1.0" encoding="utf-8"?>
<ds:datastoreItem xmlns:ds="http://schemas.openxmlformats.org/officeDocument/2006/customXml" ds:itemID="{AECCE5C7-3CE5-45CD-8F5C-529F205D0BC8}">
  <ds:schemaRefs>
    <ds:schemaRef ds:uri="160c9da3-2e30-4bd0-9f4c-b02e88c2953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1</TotalTime>
  <Words>600</Words>
  <Application>Microsoft Office PowerPoint</Application>
  <PresentationFormat>Custom</PresentationFormat>
  <Paragraphs>27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UCLA Division of Undergraduate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Cruz, Diana</dc:creator>
  <cp:lastModifiedBy>Boone, Chandler B.</cp:lastModifiedBy>
  <cp:revision>2</cp:revision>
  <cp:lastPrinted>2016-07-13T23:56:52Z</cp:lastPrinted>
  <dcterms:created xsi:type="dcterms:W3CDTF">2016-06-13T20:02:52Z</dcterms:created>
  <dcterms:modified xsi:type="dcterms:W3CDTF">2026-04-02T13:12:54Z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0x010100CD952BAE089D5C42B64EFC9FC460C2E1</vt:lpwstr>
  </property>
</Properties>
</file>